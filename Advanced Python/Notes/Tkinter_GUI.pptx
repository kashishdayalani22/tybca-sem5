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9144000"/>
  <p:notesSz cx="6858000" cy="9144000"/>
  <p:embeddedFontLst>
    <p:embeddedFont>
      <p:font typeface="Constantia"/>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26" roundtripDataSignature="AMtx7mhI3JTK+7DBxfNGbba1fOa+1P4ye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Constantia-regular.fntdata"/><Relationship Id="rId21" Type="http://schemas.openxmlformats.org/officeDocument/2006/relationships/slide" Target="slides/slide15.xml"/><Relationship Id="rId24" Type="http://schemas.openxmlformats.org/officeDocument/2006/relationships/font" Target="fonts/Constantia-italic.fntdata"/><Relationship Id="rId23" Type="http://schemas.openxmlformats.org/officeDocument/2006/relationships/font" Target="fonts/Constantia-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customschemas.google.com/relationships/presentationmetadata" Target="metadata"/><Relationship Id="rId25" Type="http://schemas.openxmlformats.org/officeDocument/2006/relationships/font" Target="fonts/Constantia-bold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2" name="Google Shape;142;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0" name="Google Shape;160;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6" name="Google Shape;166;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0" name="Google Shape;190;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6" name="Google Shape;196;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20" name="Shape 20"/>
        <p:cNvGrpSpPr/>
        <p:nvPr/>
      </p:nvGrpSpPr>
      <p:grpSpPr>
        <a:xfrm>
          <a:off x="0" y="0"/>
          <a:ext cx="0" cy="0"/>
          <a:chOff x="0" y="0"/>
          <a:chExt cx="0" cy="0"/>
        </a:xfrm>
      </p:grpSpPr>
      <p:sp>
        <p:nvSpPr>
          <p:cNvPr id="21" name="Google Shape;21;p19"/>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9"/>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3" name="Google Shape;23;p1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1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2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2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5"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0" name="Google Shape;40;p2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2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43" name="Shape 43"/>
        <p:cNvGrpSpPr/>
        <p:nvPr/>
      </p:nvGrpSpPr>
      <p:grpSpPr>
        <a:xfrm>
          <a:off x="0" y="0"/>
          <a:ext cx="0" cy="0"/>
          <a:chOff x="0" y="0"/>
          <a:chExt cx="0" cy="0"/>
        </a:xfrm>
      </p:grpSpPr>
      <p:sp>
        <p:nvSpPr>
          <p:cNvPr id="44" name="Google Shape;44;p18"/>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8"/>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46" name="Google Shape;46;p1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1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49" name="Shape 49"/>
        <p:cNvGrpSpPr/>
        <p:nvPr/>
      </p:nvGrpSpPr>
      <p:grpSpPr>
        <a:xfrm>
          <a:off x="0" y="0"/>
          <a:ext cx="0" cy="0"/>
          <a:chOff x="0" y="0"/>
          <a:chExt cx="0" cy="0"/>
        </a:xfrm>
      </p:grpSpPr>
      <p:sp>
        <p:nvSpPr>
          <p:cNvPr id="50" name="Google Shape;50;p21"/>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1"/>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2" name="Google Shape;52;p2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2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22"/>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5"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8" name="Google Shape;58;p22"/>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5"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9" name="Google Shape;59;p2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2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23"/>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5" name="Google Shape;65;p23"/>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6" name="Google Shape;66;p23"/>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40" lvl="3" marL="1828800" algn="l">
              <a:spcBef>
                <a:spcPts val="320"/>
              </a:spcBef>
              <a:spcAft>
                <a:spcPts val="0"/>
              </a:spcAft>
              <a:buSzPts val="1040"/>
              <a:buChar char="⚫"/>
              <a:defRPr sz="1600"/>
            </a:lvl4pPr>
            <a:lvl5pPr indent="-294640" lvl="4" marL="2286000" algn="l">
              <a:spcBef>
                <a:spcPts val="320"/>
              </a:spcBef>
              <a:spcAft>
                <a:spcPts val="0"/>
              </a:spcAft>
              <a:buSzPts val="1040"/>
              <a:buChar char="⚫"/>
              <a:defRPr sz="16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7" name="Google Shape;67;p23"/>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40" lvl="3" marL="1828800" algn="l">
              <a:spcBef>
                <a:spcPts val="320"/>
              </a:spcBef>
              <a:spcAft>
                <a:spcPts val="0"/>
              </a:spcAft>
              <a:buSzPts val="1040"/>
              <a:buChar char="⚫"/>
              <a:defRPr sz="1600"/>
            </a:lvl4pPr>
            <a:lvl5pPr indent="-294640" lvl="4" marL="2286000" algn="l">
              <a:spcBef>
                <a:spcPts val="320"/>
              </a:spcBef>
              <a:spcAft>
                <a:spcPts val="0"/>
              </a:spcAft>
              <a:buSzPts val="1040"/>
              <a:buChar char="⚫"/>
              <a:defRPr sz="16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8" name="Google Shape;68;p2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2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2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24"/>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2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2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2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2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26"/>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26"/>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3" name="Google Shape;83;p26"/>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2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2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2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7" name="Shape 87"/>
        <p:cNvGrpSpPr/>
        <p:nvPr/>
      </p:nvGrpSpPr>
      <p:grpSpPr>
        <a:xfrm>
          <a:off x="0" y="0"/>
          <a:ext cx="0" cy="0"/>
          <a:chOff x="0" y="0"/>
          <a:chExt cx="0" cy="0"/>
        </a:xfrm>
      </p:grpSpPr>
      <p:sp>
        <p:nvSpPr>
          <p:cNvPr id="88" name="Google Shape;88;p27"/>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70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89" name="Google Shape;89;p27"/>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7"/>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90" name="Google Shape;90;p27"/>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2000"/>
              <a:buFont typeface="Calibri"/>
              <a:buNone/>
              <a:defRPr b="1"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27"/>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1235"/>
              <a:buFont typeface="Constantia"/>
              <a:buNone/>
              <a:defRPr sz="1300"/>
            </a:lvl1pPr>
            <a:lvl2pPr indent="-293370"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8" lvl="3" marL="1828800" algn="l">
              <a:spcBef>
                <a:spcPts val="180"/>
              </a:spcBef>
              <a:spcAft>
                <a:spcPts val="0"/>
              </a:spcAft>
              <a:buSzPts val="585"/>
              <a:buChar char="⚫"/>
              <a:defRPr sz="900"/>
            </a:lvl4pPr>
            <a:lvl5pPr indent="-265748" lvl="4" marL="2286000" algn="l">
              <a:spcBef>
                <a:spcPts val="180"/>
              </a:spcBef>
              <a:spcAft>
                <a:spcPts val="0"/>
              </a:spcAft>
              <a:buSzPts val="585"/>
              <a:buChar char="⚫"/>
              <a:defRPr sz="900"/>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2" name="Google Shape;92;p2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2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27"/>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5" name="Google Shape;95;p27"/>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sp>
      <p:sp>
        <p:nvSpPr>
          <p:cNvPr id="96" name="Google Shape;96;p27"/>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6"/>
                </a:srgbClr>
              </a:gs>
              <a:gs pos="100000">
                <a:srgbClr val="00E9F7">
                  <a:alpha val="54902"/>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7" name="Google Shape;97;p27"/>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4"/>
                </a:srgbClr>
              </a:gs>
              <a:gs pos="80000">
                <a:srgbClr val="0099E4">
                  <a:alpha val="44706"/>
                </a:srgbClr>
              </a:gs>
              <a:gs pos="100000">
                <a:srgbClr val="0099E4">
                  <a:alpha val="44706"/>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8" name="Shape 98"/>
        <p:cNvGrpSpPr/>
        <p:nvPr/>
      </p:nvGrpSpPr>
      <p:grpSpPr>
        <a:xfrm>
          <a:off x="0" y="0"/>
          <a:ext cx="0" cy="0"/>
          <a:chOff x="0" y="0"/>
          <a:chExt cx="0" cy="0"/>
        </a:xfrm>
      </p:grpSpPr>
      <p:sp>
        <p:nvSpPr>
          <p:cNvPr id="99" name="Google Shape;99;p2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28"/>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5"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 name="Google Shape;101;p2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2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2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29"/>
          <p:cNvSpPr txBox="1"/>
          <p:nvPr>
            <p:ph type="title"/>
          </p:nvPr>
        </p:nvSpPr>
        <p:spPr>
          <a:xfrm rot="5400000">
            <a:off x="5052219" y="2491582"/>
            <a:ext cx="5211763"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29"/>
          <p:cNvSpPr txBox="1"/>
          <p:nvPr>
            <p:ph idx="1" type="body"/>
          </p:nvPr>
        </p:nvSpPr>
        <p:spPr>
          <a:xfrm rot="5400000">
            <a:off x="861219" y="510382"/>
            <a:ext cx="5211763"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5"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40" lvl="5" marL="2743200" algn="l">
              <a:spcBef>
                <a:spcPts val="360"/>
              </a:spcBef>
              <a:spcAft>
                <a:spcPts val="0"/>
              </a:spcAft>
              <a:buSzPts val="1440"/>
              <a:buChar char="⚫"/>
              <a:defRPr/>
            </a:lvl6pPr>
            <a:lvl7pPr indent="-320040"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7" name="Google Shape;107;p2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2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2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9" name="Shape 9"/>
        <p:cNvGrpSpPr/>
        <p:nvPr/>
      </p:nvGrpSpPr>
      <p:grpSpPr>
        <a:xfrm>
          <a:off x="0" y="0"/>
          <a:ext cx="0" cy="0"/>
          <a:chOff x="0" y="0"/>
          <a:chExt cx="0" cy="0"/>
        </a:xfrm>
      </p:grpSpPr>
      <p:sp>
        <p:nvSpPr>
          <p:cNvPr id="10" name="Google Shape;10;p17"/>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6"/>
                </a:srgbClr>
              </a:gs>
              <a:gs pos="100000">
                <a:srgbClr val="00E9F7">
                  <a:alpha val="54902"/>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1" name="Google Shape;11;p17"/>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4"/>
                </a:srgbClr>
              </a:gs>
              <a:gs pos="80000">
                <a:srgbClr val="0099E4">
                  <a:alpha val="44706"/>
                </a:srgbClr>
              </a:gs>
              <a:gs pos="100000">
                <a:srgbClr val="0099E4">
                  <a:alpha val="44706"/>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2" name="Google Shape;12;p1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lt2"/>
              </a:buClr>
              <a:buSzPts val="5000"/>
              <a:buFont typeface="Calibri"/>
              <a:buNone/>
              <a:defRPr b="0" i="0" sz="5000" u="none" cap="none" strike="noStrik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5"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40"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80"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4" name="Google Shape;14;p1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5" name="Google Shape;15;p1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6" name="Google Shape;16;p1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200" u="none" cap="none" strike="noStrike">
                <a:solidFill>
                  <a:srgbClr val="D0E9ED"/>
                </a:solidFill>
                <a:latin typeface="Constantia"/>
                <a:ea typeface="Constantia"/>
                <a:cs typeface="Constantia"/>
                <a:sym typeface="Constantia"/>
              </a:defRPr>
            </a:lvl1pPr>
            <a:lvl2pPr indent="0" lvl="1" marL="0" marR="0" rtl="0" algn="r">
              <a:spcBef>
                <a:spcPts val="0"/>
              </a:spcBef>
              <a:buNone/>
              <a:defRPr b="0" i="0" sz="1200" u="none" cap="none" strike="noStrike">
                <a:solidFill>
                  <a:srgbClr val="D0E9ED"/>
                </a:solidFill>
                <a:latin typeface="Constantia"/>
                <a:ea typeface="Constantia"/>
                <a:cs typeface="Constantia"/>
                <a:sym typeface="Constantia"/>
              </a:defRPr>
            </a:lvl2pPr>
            <a:lvl3pPr indent="0" lvl="2" marL="0" marR="0" rtl="0" algn="r">
              <a:spcBef>
                <a:spcPts val="0"/>
              </a:spcBef>
              <a:buNone/>
              <a:defRPr b="0" i="0" sz="1200" u="none" cap="none" strike="noStrike">
                <a:solidFill>
                  <a:srgbClr val="D0E9ED"/>
                </a:solidFill>
                <a:latin typeface="Constantia"/>
                <a:ea typeface="Constantia"/>
                <a:cs typeface="Constantia"/>
                <a:sym typeface="Constantia"/>
              </a:defRPr>
            </a:lvl3pPr>
            <a:lvl4pPr indent="0" lvl="3" marL="0" marR="0" rtl="0" algn="r">
              <a:spcBef>
                <a:spcPts val="0"/>
              </a:spcBef>
              <a:buNone/>
              <a:defRPr b="0" i="0" sz="1200" u="none" cap="none" strike="noStrike">
                <a:solidFill>
                  <a:srgbClr val="D0E9ED"/>
                </a:solidFill>
                <a:latin typeface="Constantia"/>
                <a:ea typeface="Constantia"/>
                <a:cs typeface="Constantia"/>
                <a:sym typeface="Constantia"/>
              </a:defRPr>
            </a:lvl4pPr>
            <a:lvl5pPr indent="0" lvl="4" marL="0" marR="0" rtl="0" algn="r">
              <a:spcBef>
                <a:spcPts val="0"/>
              </a:spcBef>
              <a:buNone/>
              <a:defRPr b="0" i="0" sz="1200" u="none" cap="none" strike="noStrike">
                <a:solidFill>
                  <a:srgbClr val="D0E9ED"/>
                </a:solidFill>
                <a:latin typeface="Constantia"/>
                <a:ea typeface="Constantia"/>
                <a:cs typeface="Constantia"/>
                <a:sym typeface="Constantia"/>
              </a:defRPr>
            </a:lvl5pPr>
            <a:lvl6pPr indent="0" lvl="5" marL="0" marR="0" rtl="0" algn="r">
              <a:spcBef>
                <a:spcPts val="0"/>
              </a:spcBef>
              <a:buNone/>
              <a:defRPr b="0" i="0" sz="1200" u="none" cap="none" strike="noStrike">
                <a:solidFill>
                  <a:srgbClr val="D0E9ED"/>
                </a:solidFill>
                <a:latin typeface="Constantia"/>
                <a:ea typeface="Constantia"/>
                <a:cs typeface="Constantia"/>
                <a:sym typeface="Constantia"/>
              </a:defRPr>
            </a:lvl6pPr>
            <a:lvl7pPr indent="0" lvl="6" marL="0" marR="0" rtl="0" algn="r">
              <a:spcBef>
                <a:spcPts val="0"/>
              </a:spcBef>
              <a:buNone/>
              <a:defRPr b="0" i="0" sz="1200" u="none" cap="none" strike="noStrike">
                <a:solidFill>
                  <a:srgbClr val="D0E9ED"/>
                </a:solidFill>
                <a:latin typeface="Constantia"/>
                <a:ea typeface="Constantia"/>
                <a:cs typeface="Constantia"/>
                <a:sym typeface="Constantia"/>
              </a:defRPr>
            </a:lvl7pPr>
            <a:lvl8pPr indent="0" lvl="7" marL="0" marR="0" rtl="0" algn="r">
              <a:spcBef>
                <a:spcPts val="0"/>
              </a:spcBef>
              <a:buNone/>
              <a:defRPr b="0" i="0" sz="1200" u="none" cap="none" strike="noStrike">
                <a:solidFill>
                  <a:srgbClr val="D0E9ED"/>
                </a:solidFill>
                <a:latin typeface="Constantia"/>
                <a:ea typeface="Constantia"/>
                <a:cs typeface="Constantia"/>
                <a:sym typeface="Constantia"/>
              </a:defRPr>
            </a:lvl8pPr>
            <a:lvl9pPr indent="0" lvl="8" marL="0" marR="0" rtl="0" algn="r">
              <a:spcBef>
                <a:spcPts val="0"/>
              </a:spcBef>
              <a:buNone/>
              <a:defRPr b="0" i="0" sz="1200" u="none" cap="none" strike="noStrike">
                <a:solidFill>
                  <a:srgbClr val="D0E9ED"/>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17" name="Google Shape;17;p17"/>
          <p:cNvGrpSpPr/>
          <p:nvPr/>
        </p:nvGrpSpPr>
        <p:grpSpPr>
          <a:xfrm>
            <a:off x="-29294" y="-16113"/>
            <a:ext cx="9198255" cy="1086266"/>
            <a:chOff x="-29322" y="-1971"/>
            <a:chExt cx="9198255" cy="1086266"/>
          </a:xfrm>
        </p:grpSpPr>
        <p:sp>
          <p:nvSpPr>
            <p:cNvPr id="18" name="Google Shape;18;p17"/>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19" name="Google Shape;19;p17"/>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26" name="Shape 26"/>
        <p:cNvGrpSpPr/>
        <p:nvPr/>
      </p:nvGrpSpPr>
      <p:grpSpPr>
        <a:xfrm>
          <a:off x="0" y="0"/>
          <a:ext cx="0" cy="0"/>
          <a:chOff x="0" y="0"/>
          <a:chExt cx="0" cy="0"/>
        </a:xfrm>
      </p:grpSpPr>
      <p:sp>
        <p:nvSpPr>
          <p:cNvPr id="27" name="Google Shape;27;p16"/>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6"/>
                </a:srgbClr>
              </a:gs>
              <a:gs pos="100000">
                <a:srgbClr val="00E9F7">
                  <a:alpha val="54902"/>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8" name="Google Shape;28;p16"/>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4"/>
                </a:srgbClr>
              </a:gs>
              <a:gs pos="80000">
                <a:srgbClr val="0099E4">
                  <a:alpha val="44706"/>
                </a:srgbClr>
              </a:gs>
              <a:gs pos="100000">
                <a:srgbClr val="0099E4">
                  <a:alpha val="44706"/>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9" name="Google Shape;29;p1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dk2"/>
              </a:buClr>
              <a:buSzPts val="5000"/>
              <a:buFont typeface="Calibri"/>
              <a:buNone/>
              <a:defRPr b="0" i="0" sz="5000" u="none" cap="none" strike="noStrik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16"/>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5"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40"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80"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31" name="Google Shape;31;p1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2" name="Google Shape;32;p1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3" name="Google Shape;33;p1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sz="1200" u="none">
                <a:solidFill>
                  <a:srgbClr val="035C75"/>
                </a:solidFill>
                <a:latin typeface="Constantia"/>
                <a:ea typeface="Constantia"/>
                <a:cs typeface="Constantia"/>
                <a:sym typeface="Constantia"/>
              </a:defRPr>
            </a:lvl1pPr>
            <a:lvl2pPr indent="0" lvl="1" marL="0" marR="0" rtl="0" algn="r">
              <a:spcBef>
                <a:spcPts val="0"/>
              </a:spcBef>
              <a:buNone/>
              <a:defRPr b="0" sz="1200" u="none">
                <a:solidFill>
                  <a:srgbClr val="035C75"/>
                </a:solidFill>
                <a:latin typeface="Constantia"/>
                <a:ea typeface="Constantia"/>
                <a:cs typeface="Constantia"/>
                <a:sym typeface="Constantia"/>
              </a:defRPr>
            </a:lvl2pPr>
            <a:lvl3pPr indent="0" lvl="2" marL="0" marR="0" rtl="0" algn="r">
              <a:spcBef>
                <a:spcPts val="0"/>
              </a:spcBef>
              <a:buNone/>
              <a:defRPr b="0" sz="1200" u="none">
                <a:solidFill>
                  <a:srgbClr val="035C75"/>
                </a:solidFill>
                <a:latin typeface="Constantia"/>
                <a:ea typeface="Constantia"/>
                <a:cs typeface="Constantia"/>
                <a:sym typeface="Constantia"/>
              </a:defRPr>
            </a:lvl3pPr>
            <a:lvl4pPr indent="0" lvl="3" marL="0" marR="0" rtl="0" algn="r">
              <a:spcBef>
                <a:spcPts val="0"/>
              </a:spcBef>
              <a:buNone/>
              <a:defRPr b="0" sz="1200" u="none">
                <a:solidFill>
                  <a:srgbClr val="035C75"/>
                </a:solidFill>
                <a:latin typeface="Constantia"/>
                <a:ea typeface="Constantia"/>
                <a:cs typeface="Constantia"/>
                <a:sym typeface="Constantia"/>
              </a:defRPr>
            </a:lvl4pPr>
            <a:lvl5pPr indent="0" lvl="4" marL="0" marR="0" rtl="0" algn="r">
              <a:spcBef>
                <a:spcPts val="0"/>
              </a:spcBef>
              <a:buNone/>
              <a:defRPr b="0" sz="1200" u="none">
                <a:solidFill>
                  <a:srgbClr val="035C75"/>
                </a:solidFill>
                <a:latin typeface="Constantia"/>
                <a:ea typeface="Constantia"/>
                <a:cs typeface="Constantia"/>
                <a:sym typeface="Constantia"/>
              </a:defRPr>
            </a:lvl5pPr>
            <a:lvl6pPr indent="0" lvl="5" marL="0" marR="0" rtl="0" algn="r">
              <a:spcBef>
                <a:spcPts val="0"/>
              </a:spcBef>
              <a:buNone/>
              <a:defRPr b="0" sz="1200" u="none">
                <a:solidFill>
                  <a:srgbClr val="035C75"/>
                </a:solidFill>
                <a:latin typeface="Constantia"/>
                <a:ea typeface="Constantia"/>
                <a:cs typeface="Constantia"/>
                <a:sym typeface="Constantia"/>
              </a:defRPr>
            </a:lvl6pPr>
            <a:lvl7pPr indent="0" lvl="6" marL="0" marR="0" rtl="0" algn="r">
              <a:spcBef>
                <a:spcPts val="0"/>
              </a:spcBef>
              <a:buNone/>
              <a:defRPr b="0" sz="1200" u="none">
                <a:solidFill>
                  <a:srgbClr val="035C75"/>
                </a:solidFill>
                <a:latin typeface="Constantia"/>
                <a:ea typeface="Constantia"/>
                <a:cs typeface="Constantia"/>
                <a:sym typeface="Constantia"/>
              </a:defRPr>
            </a:lvl7pPr>
            <a:lvl8pPr indent="0" lvl="7" marL="0" marR="0" rtl="0" algn="r">
              <a:spcBef>
                <a:spcPts val="0"/>
              </a:spcBef>
              <a:buNone/>
              <a:defRPr b="0" sz="1200" u="none">
                <a:solidFill>
                  <a:srgbClr val="035C75"/>
                </a:solidFill>
                <a:latin typeface="Constantia"/>
                <a:ea typeface="Constantia"/>
                <a:cs typeface="Constantia"/>
                <a:sym typeface="Constantia"/>
              </a:defRPr>
            </a:lvl8pPr>
            <a:lvl9pPr indent="0" lvl="8" marL="0" marR="0" rtl="0" algn="r">
              <a:spcBef>
                <a:spcPts val="0"/>
              </a:spcBef>
              <a:buNone/>
              <a:defRPr b="0" sz="1200" u="non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34" name="Google Shape;34;p16"/>
          <p:cNvGrpSpPr/>
          <p:nvPr/>
        </p:nvGrpSpPr>
        <p:grpSpPr>
          <a:xfrm>
            <a:off x="-29294" y="-16113"/>
            <a:ext cx="9198255" cy="1086266"/>
            <a:chOff x="-29322" y="-1971"/>
            <a:chExt cx="9198255" cy="1086266"/>
          </a:xfrm>
        </p:grpSpPr>
        <p:sp>
          <p:nvSpPr>
            <p:cNvPr id="35" name="Google Shape;35;p16"/>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6" name="Google Shape;36;p16"/>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hyperlink" Target="https://www.javatpoint.com/python-tkinter-checkbutton" TargetMode="External"/></Relationships>
</file>

<file path=ppt/slides/_rels/slide14.xml.rels><?xml version="1.0" encoding="UTF-8" standalone="yes"?><Relationships xmlns="http://schemas.openxmlformats.org/package/2006/relationships"><Relationship Id="rId10" Type="http://schemas.openxmlformats.org/officeDocument/2006/relationships/hyperlink" Target="https://www.javatpoint.com/python-tkinter-menu" TargetMode="External"/><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www.javatpoint.com/python-tkinter-button" TargetMode="External"/><Relationship Id="rId4" Type="http://schemas.openxmlformats.org/officeDocument/2006/relationships/hyperlink" Target="https://www.javatpoint.com/python-tkinter-checkbutton" TargetMode="External"/><Relationship Id="rId9" Type="http://schemas.openxmlformats.org/officeDocument/2006/relationships/hyperlink" Target="https://www.javatpoint.com/python-tkinter-menubutton" TargetMode="External"/><Relationship Id="rId5" Type="http://schemas.openxmlformats.org/officeDocument/2006/relationships/hyperlink" Target="https://www.javatpoint.com/python-tkinter-entry" TargetMode="External"/><Relationship Id="rId6" Type="http://schemas.openxmlformats.org/officeDocument/2006/relationships/hyperlink" Target="https://www.javatpoint.com/python-tkinter-frame" TargetMode="External"/><Relationship Id="rId7" Type="http://schemas.openxmlformats.org/officeDocument/2006/relationships/hyperlink" Target="https://www.javatpoint.com/python-tkinter-label" TargetMode="External"/><Relationship Id="rId8" Type="http://schemas.openxmlformats.org/officeDocument/2006/relationships/hyperlink" Target="https://www.javatpoint.com/python-tkinter-listbox"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hyperlink" Target="https://www.javatpoint.com/python-tkinter-message" TargetMode="External"/><Relationship Id="rId4" Type="http://schemas.openxmlformats.org/officeDocument/2006/relationships/hyperlink" Target="https://www.javatpoint.com/python-tkinter-radiobutton" TargetMode="External"/><Relationship Id="rId5" Type="http://schemas.openxmlformats.org/officeDocument/2006/relationships/hyperlink" Target="https://www.javatpoint.com/python-tkinter-scrollbar" TargetMode="External"/><Relationship Id="rId6" Type="http://schemas.openxmlformats.org/officeDocument/2006/relationships/hyperlink" Target="https://www.javatpoint.com/python-tkinter-text" TargetMode="External"/><Relationship Id="rId7" Type="http://schemas.openxmlformats.org/officeDocument/2006/relationships/hyperlink" Target="https://www.javatpoint.com/python-tkinter-messagebox"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
          <p:cNvSpPr txBox="1"/>
          <p:nvPr>
            <p:ph type="ctrTitle"/>
          </p:nvPr>
        </p:nvSpPr>
        <p:spPr>
          <a:xfrm>
            <a:off x="685800" y="1295401"/>
            <a:ext cx="7772400" cy="2305050"/>
          </a:xfrm>
          <a:prstGeom prst="rect">
            <a:avLst/>
          </a:prstGeom>
          <a:noFill/>
          <a:ln>
            <a:noFill/>
          </a:ln>
        </p:spPr>
        <p:txBody>
          <a:bodyPr anchorCtr="0" anchor="b" bIns="0" lIns="0" spcFirstLastPara="1" rIns="18275" wrap="square" tIns="0">
            <a:normAutofit fontScale="90000"/>
          </a:bodyPr>
          <a:lstStyle/>
          <a:p>
            <a:pPr indent="0" lvl="0" marL="0" rtl="0" algn="r">
              <a:spcBef>
                <a:spcPts val="0"/>
              </a:spcBef>
              <a:spcAft>
                <a:spcPts val="0"/>
              </a:spcAft>
              <a:buClr>
                <a:srgbClr val="4CE0EA"/>
              </a:buClr>
              <a:buSzPct val="100000"/>
              <a:buFont typeface="Calibri"/>
              <a:buNone/>
            </a:pPr>
            <a:br>
              <a:rPr lang="en-US"/>
            </a:br>
            <a:r>
              <a:rPr lang="en-US"/>
              <a:t> OOP</a:t>
            </a:r>
            <a:r>
              <a:rPr b="1" lang="en-US"/>
              <a:t> 	</a:t>
            </a:r>
            <a:br>
              <a:rPr b="1" lang="en-US"/>
            </a:br>
            <a:endParaRPr/>
          </a:p>
        </p:txBody>
      </p:sp>
      <p:sp>
        <p:nvSpPr>
          <p:cNvPr id="115" name="Google Shape;115;p1"/>
          <p:cNvSpPr txBox="1"/>
          <p:nvPr>
            <p:ph idx="1" type="subTitle"/>
          </p:nvPr>
        </p:nvSpPr>
        <p:spPr>
          <a:xfrm>
            <a:off x="914400" y="3886200"/>
            <a:ext cx="7315200" cy="1752600"/>
          </a:xfrm>
          <a:prstGeom prst="rect">
            <a:avLst/>
          </a:prstGeom>
          <a:noFill/>
          <a:ln>
            <a:noFill/>
          </a:ln>
        </p:spPr>
        <p:txBody>
          <a:bodyPr anchorCtr="0" anchor="t" bIns="45700" lIns="0" spcFirstLastPara="1" rIns="18275" wrap="square" tIns="45700">
            <a:normAutofit/>
          </a:bodyPr>
          <a:lstStyle/>
          <a:p>
            <a:pPr indent="0" lvl="0" marL="0" marR="45720" rtl="0" algn="r">
              <a:spcBef>
                <a:spcPts val="0"/>
              </a:spcBef>
              <a:spcAft>
                <a:spcPts val="0"/>
              </a:spcAft>
              <a:buSzPts val="2470"/>
              <a:buNone/>
            </a:pPr>
            <a:r>
              <a:rPr lang="en-US"/>
              <a:t>Priti Patel</a:t>
            </a:r>
            <a:endParaRPr/>
          </a:p>
          <a:p>
            <a:pPr indent="0" lvl="0" marL="0" marR="45720" rtl="0" algn="r">
              <a:spcBef>
                <a:spcPts val="520"/>
              </a:spcBef>
              <a:spcAft>
                <a:spcPts val="0"/>
              </a:spcAft>
              <a:buSzPts val="2470"/>
              <a:buNone/>
            </a:pPr>
            <a:r>
              <a:rPr lang="en-US"/>
              <a:t>Department of Computer Applications</a:t>
            </a:r>
            <a:endParaRPr/>
          </a:p>
          <a:p>
            <a:pPr indent="0" lvl="0" marL="0" marR="45720" rtl="0" algn="r">
              <a:spcBef>
                <a:spcPts val="520"/>
              </a:spcBef>
              <a:spcAft>
                <a:spcPts val="0"/>
              </a:spcAft>
              <a:buSzPts val="247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Topics </a:t>
            </a:r>
            <a:endParaRPr/>
          </a:p>
        </p:txBody>
      </p:sp>
      <p:sp>
        <p:nvSpPr>
          <p:cNvPr id="121" name="Google Shape;121;p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Tkinter</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3"/>
          <p:cNvSpPr txBox="1"/>
          <p:nvPr>
            <p:ph type="title"/>
          </p:nvPr>
        </p:nvSpPr>
        <p:spPr>
          <a:xfrm>
            <a:off x="500034" y="285728"/>
            <a:ext cx="8229600" cy="84698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lang="en-US"/>
              <a:t>GUI</a:t>
            </a:r>
            <a:endParaRPr/>
          </a:p>
        </p:txBody>
      </p:sp>
      <p:sp>
        <p:nvSpPr>
          <p:cNvPr id="127" name="Google Shape;127;p3"/>
          <p:cNvSpPr txBox="1"/>
          <p:nvPr>
            <p:ph idx="1" type="body"/>
          </p:nvPr>
        </p:nvSpPr>
        <p:spPr>
          <a:xfrm>
            <a:off x="457200" y="1214422"/>
            <a:ext cx="8229600" cy="5110178"/>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b="1" lang="en-US"/>
              <a:t>Graphical User Interface(GUI)</a:t>
            </a:r>
            <a:r>
              <a:rPr lang="en-US"/>
              <a:t> is a form of user interface which allows users to interact with computers through visual indicators using items such as icons, menus, windows, etc. It has advantages over the Command Line Interface(CLI) where users interact with computers by writing commands using keyboard only and whose usage is more difficult than GUI.</a:t>
            </a:r>
            <a:br>
              <a:rPr lang="en-US"/>
            </a:br>
            <a:endParaRPr/>
          </a:p>
          <a:p>
            <a:pPr indent="-274320" lvl="0" marL="274320" rtl="0" algn="l">
              <a:spcBef>
                <a:spcPts val="520"/>
              </a:spcBef>
              <a:spcAft>
                <a:spcPts val="0"/>
              </a:spcAft>
              <a:buSzPts val="2470"/>
              <a:buChar char="⚫"/>
            </a:pPr>
            <a:br>
              <a:rPr lang="en-US"/>
            </a:br>
            <a:endParaRPr/>
          </a:p>
          <a:p>
            <a:pPr indent="-117475" lvl="0" marL="274320" rtl="0" algn="l">
              <a:spcBef>
                <a:spcPts val="520"/>
              </a:spcBef>
              <a:spcAft>
                <a:spcPts val="0"/>
              </a:spcAft>
              <a:buSzPts val="2470"/>
              <a:buNone/>
            </a:pPr>
            <a:r>
              <a:t/>
            </a:r>
            <a:endParaRPr>
              <a:solidFill>
                <a:srgbClr val="FF0000"/>
              </a:solidFill>
            </a:endParaRPr>
          </a:p>
          <a:p>
            <a:pPr indent="-117475" lvl="0" marL="274320" rtl="0" algn="l">
              <a:spcBef>
                <a:spcPts val="520"/>
              </a:spcBef>
              <a:spcAft>
                <a:spcPts val="0"/>
              </a:spcAft>
              <a:buSzPts val="247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lang="en-US"/>
              <a:t>Python Tkinter</a:t>
            </a:r>
            <a:endParaRPr/>
          </a:p>
        </p:txBody>
      </p:sp>
      <p:sp>
        <p:nvSpPr>
          <p:cNvPr id="133" name="Google Shape;133;p4"/>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70"/>
              <a:buChar char="⚫"/>
            </a:pPr>
            <a:r>
              <a:rPr lang="en-US"/>
              <a:t>Python provides the standard library Tkinter for creating the graphical user interface for desktop based applications.</a:t>
            </a:r>
            <a:endParaRPr/>
          </a:p>
          <a:p>
            <a:pPr indent="-274320" lvl="0" marL="274320" rtl="0" algn="l">
              <a:spcBef>
                <a:spcPts val="520"/>
              </a:spcBef>
              <a:spcAft>
                <a:spcPts val="0"/>
              </a:spcAft>
              <a:buSzPts val="2470"/>
              <a:buChar char="⚫"/>
            </a:pPr>
            <a:r>
              <a:rPr lang="en-US"/>
              <a:t> It is one of the most commonly used modules for creating GUI applications in Python as it is simple and easy to work with. </a:t>
            </a:r>
            <a:endParaRPr/>
          </a:p>
          <a:p>
            <a:pPr indent="-274320" lvl="0" marL="274320" rtl="0" algn="l">
              <a:spcBef>
                <a:spcPts val="520"/>
              </a:spcBef>
              <a:spcAft>
                <a:spcPts val="0"/>
              </a:spcAft>
              <a:buSzPts val="2470"/>
              <a:buChar char="⚫"/>
            </a:pPr>
            <a:r>
              <a:rPr lang="en-US"/>
              <a:t>You don’t need to worry about the installation of the Tkinter module separately as it comes with Python already. </a:t>
            </a:r>
            <a:endParaRPr/>
          </a:p>
          <a:p>
            <a:pPr indent="-274320" lvl="0" marL="274320" rtl="0" algn="l">
              <a:spcBef>
                <a:spcPts val="520"/>
              </a:spcBef>
              <a:spcAft>
                <a:spcPts val="0"/>
              </a:spcAft>
              <a:buSzPts val="2470"/>
              <a:buChar char="⚫"/>
            </a:pPr>
            <a:r>
              <a:rPr lang="en-US"/>
              <a:t>It gives an object-oriented interface to the Tk GUI toolkit.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lang="en-US"/>
              <a:t>Widgets</a:t>
            </a:r>
            <a:endParaRPr/>
          </a:p>
        </p:txBody>
      </p:sp>
      <p:sp>
        <p:nvSpPr>
          <p:cNvPr id="139" name="Google Shape;139;p5"/>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b="1" lang="en-US"/>
              <a:t>Widgets</a:t>
            </a:r>
            <a:r>
              <a:rPr lang="en-US"/>
              <a:t> in Tkinter are the elements of GUI application which provides various controls (such as Labels, Buttons, ComboBoxes, CheckBoxes, MenuBars, RadioButtons and many more) to users to interact with the application.</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6"/>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lang="en-US"/>
              <a:t>Structure of tkinter Program</a:t>
            </a:r>
            <a:endParaRPr/>
          </a:p>
        </p:txBody>
      </p:sp>
      <p:pic>
        <p:nvPicPr>
          <p:cNvPr id="145" name="Google Shape;145;p6"/>
          <p:cNvPicPr preferRelativeResize="0"/>
          <p:nvPr>
            <p:ph idx="1" type="body"/>
          </p:nvPr>
        </p:nvPicPr>
        <p:blipFill rotWithShape="1">
          <a:blip r:embed="rId3">
            <a:alphaModFix/>
          </a:blip>
          <a:srcRect b="0" l="0" r="0" t="0"/>
          <a:stretch/>
        </p:blipFill>
        <p:spPr>
          <a:xfrm>
            <a:off x="1857356" y="1872762"/>
            <a:ext cx="5136602" cy="4270882"/>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7"/>
          <p:cNvSpPr txBox="1"/>
          <p:nvPr>
            <p:ph type="title"/>
          </p:nvPr>
        </p:nvSpPr>
        <p:spPr>
          <a:xfrm>
            <a:off x="500034" y="285728"/>
            <a:ext cx="8229600" cy="84698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lang="en-US"/>
              <a:t>Python Tkinter</a:t>
            </a:r>
            <a:endParaRPr/>
          </a:p>
        </p:txBody>
      </p:sp>
      <p:sp>
        <p:nvSpPr>
          <p:cNvPr id="151" name="Google Shape;151;p7"/>
          <p:cNvSpPr txBox="1"/>
          <p:nvPr>
            <p:ph idx="1" type="body"/>
          </p:nvPr>
        </p:nvSpPr>
        <p:spPr>
          <a:xfrm>
            <a:off x="457200" y="1214422"/>
            <a:ext cx="8229600" cy="5110178"/>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An empty Tkinter top-level window can be created by using the following steps.</a:t>
            </a:r>
            <a:endParaRPr/>
          </a:p>
          <a:p>
            <a:pPr indent="-274320" lvl="0" marL="274320" rtl="0" algn="l">
              <a:spcBef>
                <a:spcPts val="520"/>
              </a:spcBef>
              <a:spcAft>
                <a:spcPts val="0"/>
              </a:spcAft>
              <a:buSzPts val="2470"/>
              <a:buChar char="⚫"/>
            </a:pPr>
            <a:r>
              <a:rPr lang="en-US"/>
              <a:t>import the Tkinter module.</a:t>
            </a:r>
            <a:endParaRPr/>
          </a:p>
          <a:p>
            <a:pPr indent="-274320" lvl="0" marL="274320" rtl="0" algn="l">
              <a:spcBef>
                <a:spcPts val="520"/>
              </a:spcBef>
              <a:spcAft>
                <a:spcPts val="0"/>
              </a:spcAft>
              <a:buSzPts val="2470"/>
              <a:buChar char="⚫"/>
            </a:pPr>
            <a:r>
              <a:rPr lang="en-US"/>
              <a:t>Create the main application window.</a:t>
            </a:r>
            <a:endParaRPr/>
          </a:p>
          <a:p>
            <a:pPr indent="-274320" lvl="0" marL="274320" rtl="0" algn="l">
              <a:spcBef>
                <a:spcPts val="520"/>
              </a:spcBef>
              <a:spcAft>
                <a:spcPts val="0"/>
              </a:spcAft>
              <a:buSzPts val="2470"/>
              <a:buChar char="⚫"/>
            </a:pPr>
            <a:r>
              <a:rPr lang="en-US"/>
              <a:t>Add the widgets like labels, buttons, frames, etc. to the window.</a:t>
            </a:r>
            <a:endParaRPr/>
          </a:p>
          <a:p>
            <a:pPr indent="-274320" lvl="0" marL="274320" rtl="0" algn="l">
              <a:spcBef>
                <a:spcPts val="520"/>
              </a:spcBef>
              <a:spcAft>
                <a:spcPts val="0"/>
              </a:spcAft>
              <a:buSzPts val="2470"/>
              <a:buChar char="⚫"/>
            </a:pPr>
            <a:r>
              <a:rPr lang="en-US"/>
              <a:t>Call the main event loop so that the actions can take place on the user's computer screen.</a:t>
            </a:r>
            <a:endParaRPr/>
          </a:p>
          <a:p>
            <a:pPr indent="-117475" lvl="0" marL="274320" rtl="0" algn="l">
              <a:spcBef>
                <a:spcPts val="520"/>
              </a:spcBef>
              <a:spcAft>
                <a:spcPts val="0"/>
              </a:spcAft>
              <a:buSzPts val="2470"/>
              <a:buNone/>
            </a:pPr>
            <a:r>
              <a:t/>
            </a:r>
            <a:endParaRPr>
              <a:solidFill>
                <a:srgbClr val="FF0000"/>
              </a:solidFill>
            </a:endParaRPr>
          </a:p>
          <a:p>
            <a:pPr indent="-117475" lvl="0" marL="274320" rtl="0" algn="l">
              <a:spcBef>
                <a:spcPts val="520"/>
              </a:spcBef>
              <a:spcAft>
                <a:spcPts val="0"/>
              </a:spcAft>
              <a:buSzPts val="247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8"/>
          <p:cNvSpPr txBox="1"/>
          <p:nvPr>
            <p:ph type="title"/>
          </p:nvPr>
        </p:nvSpPr>
        <p:spPr>
          <a:xfrm>
            <a:off x="500034" y="285728"/>
            <a:ext cx="8229600" cy="84698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lang="en-US"/>
              <a:t>Python Tkinter</a:t>
            </a:r>
            <a:endParaRPr/>
          </a:p>
        </p:txBody>
      </p:sp>
      <p:sp>
        <p:nvSpPr>
          <p:cNvPr id="157" name="Google Shape;157;p8"/>
          <p:cNvSpPr txBox="1"/>
          <p:nvPr>
            <p:ph idx="1" type="body"/>
          </p:nvPr>
        </p:nvSpPr>
        <p:spPr>
          <a:xfrm>
            <a:off x="457200" y="1214422"/>
            <a:ext cx="8229600" cy="5110178"/>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None/>
            </a:pPr>
            <a:r>
              <a:rPr b="1" lang="en-US">
                <a:solidFill>
                  <a:srgbClr val="FF0000"/>
                </a:solidFill>
              </a:rPr>
              <a:t>Example :</a:t>
            </a:r>
            <a:endParaRPr/>
          </a:p>
          <a:p>
            <a:pPr indent="-274320" lvl="0" marL="274320" rtl="0" algn="l">
              <a:spcBef>
                <a:spcPts val="520"/>
              </a:spcBef>
              <a:spcAft>
                <a:spcPts val="0"/>
              </a:spcAft>
              <a:buSzPts val="2470"/>
              <a:buNone/>
            </a:pPr>
            <a:r>
              <a:t/>
            </a:r>
            <a:endParaRPr b="1">
              <a:solidFill>
                <a:srgbClr val="FF0000"/>
              </a:solidFill>
            </a:endParaRPr>
          </a:p>
          <a:p>
            <a:pPr indent="-274320" lvl="0" marL="274320" rtl="0" algn="l">
              <a:spcBef>
                <a:spcPts val="520"/>
              </a:spcBef>
              <a:spcAft>
                <a:spcPts val="0"/>
              </a:spcAft>
              <a:buSzPts val="2470"/>
              <a:buNone/>
            </a:pPr>
            <a:r>
              <a:rPr b="1" lang="en-US">
                <a:solidFill>
                  <a:srgbClr val="FF0000"/>
                </a:solidFill>
              </a:rPr>
              <a:t>from</a:t>
            </a:r>
            <a:r>
              <a:rPr lang="en-US">
                <a:solidFill>
                  <a:srgbClr val="FF0000"/>
                </a:solidFill>
              </a:rPr>
              <a:t> tkinter </a:t>
            </a:r>
            <a:r>
              <a:rPr b="1" lang="en-US">
                <a:solidFill>
                  <a:srgbClr val="FF0000"/>
                </a:solidFill>
              </a:rPr>
              <a:t>import</a:t>
            </a:r>
            <a:r>
              <a:rPr lang="en-US">
                <a:solidFill>
                  <a:srgbClr val="FF0000"/>
                </a:solidFill>
              </a:rPr>
              <a:t> *  </a:t>
            </a:r>
            <a:endParaRPr/>
          </a:p>
          <a:p>
            <a:pPr indent="-274320" lvl="0" marL="274320" rtl="0" algn="l">
              <a:spcBef>
                <a:spcPts val="520"/>
              </a:spcBef>
              <a:spcAft>
                <a:spcPts val="0"/>
              </a:spcAft>
              <a:buSzPts val="2470"/>
              <a:buNone/>
            </a:pPr>
            <a:r>
              <a:rPr lang="en-US"/>
              <a:t>#creating the application main window.   </a:t>
            </a:r>
            <a:endParaRPr/>
          </a:p>
          <a:p>
            <a:pPr indent="-274320" lvl="0" marL="274320" rtl="0" algn="l">
              <a:spcBef>
                <a:spcPts val="520"/>
              </a:spcBef>
              <a:spcAft>
                <a:spcPts val="0"/>
              </a:spcAft>
              <a:buSzPts val="2470"/>
              <a:buNone/>
            </a:pPr>
            <a:r>
              <a:rPr lang="en-US">
                <a:solidFill>
                  <a:srgbClr val="FF0000"/>
                </a:solidFill>
              </a:rPr>
              <a:t>top = Tk()  </a:t>
            </a:r>
            <a:endParaRPr/>
          </a:p>
          <a:p>
            <a:pPr indent="-274320" lvl="0" marL="274320" rtl="0" algn="l">
              <a:spcBef>
                <a:spcPts val="520"/>
              </a:spcBef>
              <a:spcAft>
                <a:spcPts val="0"/>
              </a:spcAft>
              <a:buSzPts val="2470"/>
              <a:buNone/>
            </a:pPr>
            <a:r>
              <a:rPr lang="en-US"/>
              <a:t>#Entering the event main loop  </a:t>
            </a:r>
            <a:endParaRPr/>
          </a:p>
          <a:p>
            <a:pPr indent="-274320" lvl="0" marL="274320" rtl="0" algn="l">
              <a:spcBef>
                <a:spcPts val="520"/>
              </a:spcBef>
              <a:spcAft>
                <a:spcPts val="0"/>
              </a:spcAft>
              <a:buSzPts val="2470"/>
              <a:buNone/>
            </a:pPr>
            <a:r>
              <a:rPr lang="en-US">
                <a:solidFill>
                  <a:srgbClr val="FF0000"/>
                </a:solidFill>
              </a:rPr>
              <a:t>top.mainloop()  </a:t>
            </a:r>
            <a:endParaRPr/>
          </a:p>
          <a:p>
            <a:pPr indent="-274320" lvl="0" marL="274320" rtl="0" algn="l">
              <a:spcBef>
                <a:spcPts val="520"/>
              </a:spcBef>
              <a:spcAft>
                <a:spcPts val="0"/>
              </a:spcAft>
              <a:buSzPts val="2470"/>
              <a:buNone/>
            </a:pPr>
            <a:r>
              <a:t/>
            </a:r>
            <a:endParaRPr>
              <a:solidFill>
                <a:srgbClr val="FF0000"/>
              </a:solidFill>
            </a:endParaRPr>
          </a:p>
          <a:p>
            <a:pPr indent="-117475" lvl="0" marL="274320" rtl="0" algn="l">
              <a:spcBef>
                <a:spcPts val="520"/>
              </a:spcBef>
              <a:spcAft>
                <a:spcPts val="0"/>
              </a:spcAft>
              <a:buSzPts val="2470"/>
              <a:buNone/>
            </a:pPr>
            <a:r>
              <a:t/>
            </a:r>
            <a:endParaRPr>
              <a:solidFill>
                <a:srgbClr val="FF0000"/>
              </a:solidFill>
            </a:endParaRPr>
          </a:p>
          <a:p>
            <a:pPr indent="-117475" lvl="0" marL="274320" rtl="0" algn="l">
              <a:spcBef>
                <a:spcPts val="520"/>
              </a:spcBef>
              <a:spcAft>
                <a:spcPts val="0"/>
              </a:spcAft>
              <a:buSzPts val="2470"/>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lang="en-US"/>
              <a:t>   mainloop() method</a:t>
            </a:r>
            <a:endParaRPr/>
          </a:p>
        </p:txBody>
      </p:sp>
      <p:sp>
        <p:nvSpPr>
          <p:cNvPr id="163" name="Google Shape;163;p9"/>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70"/>
              <a:buChar char="⚫"/>
            </a:pPr>
            <a:r>
              <a:rPr lang="en-US"/>
              <a:t>top. mainloop() is simply a method in the main window that executes what we wish to execute in an application. </a:t>
            </a:r>
            <a:endParaRPr/>
          </a:p>
          <a:p>
            <a:pPr indent="-274320" lvl="0" marL="274320" rtl="0" algn="l">
              <a:spcBef>
                <a:spcPts val="520"/>
              </a:spcBef>
              <a:spcAft>
                <a:spcPts val="0"/>
              </a:spcAft>
              <a:buSzPts val="2470"/>
              <a:buChar char="⚫"/>
            </a:pPr>
            <a:r>
              <a:rPr lang="en-US"/>
              <a:t>As the name implies it will loop forever until the user exits the window or waits for any events from the user.</a:t>
            </a:r>
            <a:endParaRPr/>
          </a:p>
          <a:p>
            <a:pPr indent="-274320" lvl="0" marL="274320" rtl="0" algn="l">
              <a:spcBef>
                <a:spcPts val="520"/>
              </a:spcBef>
              <a:spcAft>
                <a:spcPts val="0"/>
              </a:spcAft>
              <a:buSzPts val="2470"/>
              <a:buChar char="⚫"/>
            </a:pPr>
            <a:r>
              <a:rPr lang="en-US"/>
              <a:t>The mainloop automatically receives events from the window system and deliver them to the application widgets. </a:t>
            </a:r>
            <a:endParaRPr/>
          </a:p>
          <a:p>
            <a:pPr indent="-274320" lvl="0" marL="274320" rtl="0" algn="l">
              <a:spcBef>
                <a:spcPts val="520"/>
              </a:spcBef>
              <a:spcAft>
                <a:spcPts val="0"/>
              </a:spcAft>
              <a:buSzPts val="2470"/>
              <a:buChar char="⚫"/>
            </a:pPr>
            <a:r>
              <a:rPr lang="en-US"/>
              <a:t>This gets quit when we click on the close button of the title bar. So, any code after this mainloop() method will not run.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lang="en-US"/>
              <a:t>Methods</a:t>
            </a:r>
            <a:endParaRPr/>
          </a:p>
        </p:txBody>
      </p:sp>
      <p:sp>
        <p:nvSpPr>
          <p:cNvPr id="169" name="Google Shape;169;p1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470"/>
              <a:buChar char="⚫"/>
            </a:pPr>
            <a:r>
              <a:rPr lang="en-US"/>
              <a:t>Tkinter provides the following methods to specify a widget to display on a window.</a:t>
            </a:r>
            <a:endParaRPr/>
          </a:p>
          <a:p>
            <a:pPr indent="-274320" lvl="0" marL="274320" rtl="0" algn="l">
              <a:spcBef>
                <a:spcPts val="520"/>
              </a:spcBef>
              <a:spcAft>
                <a:spcPts val="0"/>
              </a:spcAft>
              <a:buSzPts val="2470"/>
              <a:buChar char="⚫"/>
            </a:pPr>
            <a:r>
              <a:rPr b="1" lang="en-US">
                <a:solidFill>
                  <a:srgbClr val="FFC000"/>
                </a:solidFill>
              </a:rPr>
              <a:t>pack(): </a:t>
            </a:r>
            <a:r>
              <a:rPr lang="en-US"/>
              <a:t> This method helps in Placing the widgets within its master. With options like side, fill, expand.</a:t>
            </a:r>
            <a:endParaRPr/>
          </a:p>
          <a:p>
            <a:pPr indent="-246888" lvl="1" marL="640080" rtl="0" algn="l">
              <a:spcBef>
                <a:spcPts val="480"/>
              </a:spcBef>
              <a:spcAft>
                <a:spcPts val="0"/>
              </a:spcAft>
              <a:buSzPts val="2040"/>
              <a:buNone/>
            </a:pPr>
            <a:r>
              <a:rPr lang="en-US">
                <a:solidFill>
                  <a:srgbClr val="FF0000"/>
                </a:solidFill>
              </a:rPr>
              <a:t>Widget.pack();</a:t>
            </a:r>
            <a:endParaRPr/>
          </a:p>
          <a:p>
            <a:pPr indent="-274320" lvl="0" marL="274320" rtl="0" algn="l">
              <a:spcBef>
                <a:spcPts val="520"/>
              </a:spcBef>
              <a:spcAft>
                <a:spcPts val="0"/>
              </a:spcAft>
              <a:buSzPts val="2470"/>
              <a:buChar char="⚫"/>
            </a:pPr>
            <a:r>
              <a:rPr b="1" lang="en-US">
                <a:solidFill>
                  <a:srgbClr val="FFC000"/>
                </a:solidFill>
              </a:rPr>
              <a:t>grid():</a:t>
            </a:r>
            <a:r>
              <a:rPr lang="en-US">
                <a:solidFill>
                  <a:srgbClr val="FFC000"/>
                </a:solidFill>
              </a:rPr>
              <a:t> </a:t>
            </a:r>
            <a:r>
              <a:rPr lang="en-US"/>
              <a:t>This method helps to place a widget in a grid format or tabular form. We can specify in the method call with the number of rows and columns. It takes possible options like column, row, ipadx, and Y and sticky.</a:t>
            </a:r>
            <a:endParaRPr/>
          </a:p>
          <a:p>
            <a:pPr indent="-246888" lvl="1" marL="640080" rtl="0" algn="l">
              <a:spcBef>
                <a:spcPts val="480"/>
              </a:spcBef>
              <a:spcAft>
                <a:spcPts val="0"/>
              </a:spcAft>
              <a:buSzPts val="2040"/>
              <a:buNone/>
            </a:pPr>
            <a:r>
              <a:rPr lang="en-US">
                <a:solidFill>
                  <a:srgbClr val="FF0000"/>
                </a:solidFill>
              </a:rPr>
              <a:t>Widget.grid();</a:t>
            </a:r>
            <a:endParaRPr/>
          </a:p>
          <a:p>
            <a:pPr indent="-246888" lvl="1" marL="640080" rtl="0" algn="l">
              <a:spcBef>
                <a:spcPts val="480"/>
              </a:spcBef>
              <a:spcAft>
                <a:spcPts val="0"/>
              </a:spcAft>
              <a:buSzPts val="2040"/>
              <a:buNone/>
            </a:pPr>
            <a:r>
              <a:t/>
            </a:r>
            <a:endParaRPr>
              <a:solidFill>
                <a:srgbClr val="FF0000"/>
              </a:solidFill>
            </a:endParaRPr>
          </a:p>
          <a:p>
            <a:pPr indent="-117475" lvl="0" marL="274320" rtl="0" algn="l">
              <a:spcBef>
                <a:spcPts val="520"/>
              </a:spcBef>
              <a:spcAft>
                <a:spcPts val="0"/>
              </a:spcAft>
              <a:buSzPts val="247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ctr">
              <a:spcBef>
                <a:spcPts val="0"/>
              </a:spcBef>
              <a:spcAft>
                <a:spcPts val="0"/>
              </a:spcAft>
              <a:buClr>
                <a:schemeClr val="dk2"/>
              </a:buClr>
              <a:buSzPts val="5000"/>
              <a:buFont typeface="Calibri"/>
              <a:buNone/>
            </a:pPr>
            <a:r>
              <a:rPr lang="en-US"/>
              <a:t>Methods</a:t>
            </a:r>
            <a:endParaRPr/>
          </a:p>
        </p:txBody>
      </p:sp>
      <p:sp>
        <p:nvSpPr>
          <p:cNvPr id="175" name="Google Shape;175;p1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b="1" lang="en-US">
                <a:solidFill>
                  <a:srgbClr val="FFC000"/>
                </a:solidFill>
              </a:rPr>
              <a:t>Place(): </a:t>
            </a:r>
            <a:r>
              <a:rPr lang="en-US"/>
              <a:t>This method arranges the widgets by placing them in specific positions instructed by the programmer. It organizes with respective to X and Y coordinates.</a:t>
            </a:r>
            <a:endParaRPr/>
          </a:p>
          <a:p>
            <a:pPr indent="-274320" lvl="0" marL="274320" rtl="0" algn="l">
              <a:spcBef>
                <a:spcPts val="520"/>
              </a:spcBef>
              <a:spcAft>
                <a:spcPts val="0"/>
              </a:spcAft>
              <a:buSzPts val="2470"/>
              <a:buChar char="⚫"/>
            </a:pPr>
            <a:r>
              <a:rPr lang="en-US">
                <a:solidFill>
                  <a:srgbClr val="FF0000"/>
                </a:solidFill>
              </a:rPr>
              <a:t>Widget.place();</a:t>
            </a:r>
            <a:endParaRPr/>
          </a:p>
          <a:p>
            <a:pPr indent="-246888" lvl="1" marL="640080" rtl="0" algn="l">
              <a:spcBef>
                <a:spcPts val="480"/>
              </a:spcBef>
              <a:spcAft>
                <a:spcPts val="0"/>
              </a:spcAft>
              <a:buSzPts val="2040"/>
              <a:buNone/>
            </a:pPr>
            <a:r>
              <a:t/>
            </a:r>
            <a:endParaRPr>
              <a:solidFill>
                <a:srgbClr val="FF0000"/>
              </a:solidFill>
            </a:endParaRPr>
          </a:p>
          <a:p>
            <a:pPr indent="-117475" lvl="0" marL="274320" rtl="0" algn="l">
              <a:spcBef>
                <a:spcPts val="520"/>
              </a:spcBef>
              <a:spcAft>
                <a:spcPts val="0"/>
              </a:spcAft>
              <a:buSzPts val="247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t/>
            </a:r>
            <a:endParaRPr/>
          </a:p>
        </p:txBody>
      </p:sp>
      <p:sp>
        <p:nvSpPr>
          <p:cNvPr id="181" name="Google Shape;181;p12"/>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117475" lvl="0" marL="274320" rtl="0" algn="l">
              <a:spcBef>
                <a:spcPts val="0"/>
              </a:spcBef>
              <a:spcAft>
                <a:spcPts val="0"/>
              </a:spcAft>
              <a:buSzPts val="2470"/>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13"/>
          <p:cNvSpPr txBox="1"/>
          <p:nvPr>
            <p:ph type="title"/>
          </p:nvPr>
        </p:nvSpPr>
        <p:spPr>
          <a:xfrm>
            <a:off x="500034" y="357166"/>
            <a:ext cx="8229600" cy="775542"/>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lang="en-US"/>
              <a:t>Tkinter widgets</a:t>
            </a:r>
            <a:endParaRPr/>
          </a:p>
        </p:txBody>
      </p:sp>
      <p:sp>
        <p:nvSpPr>
          <p:cNvPr id="187" name="Google Shape;187;p13"/>
          <p:cNvSpPr txBox="1"/>
          <p:nvPr>
            <p:ph idx="1" type="body"/>
          </p:nvPr>
        </p:nvSpPr>
        <p:spPr>
          <a:xfrm>
            <a:off x="457200" y="1285860"/>
            <a:ext cx="8229600" cy="503874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There are various widgets like button, canvas, checkbutton, entry, etc. that are used to build the python GUI applications.</a:t>
            </a:r>
            <a:endParaRPr/>
          </a:p>
          <a:p>
            <a:pPr indent="-274320" lvl="0" marL="274320" rtl="0" algn="l">
              <a:spcBef>
                <a:spcPts val="520"/>
              </a:spcBef>
              <a:spcAft>
                <a:spcPts val="0"/>
              </a:spcAft>
              <a:buSzPts val="2470"/>
              <a:buChar char="⚫"/>
            </a:pPr>
            <a:r>
              <a:rPr lang="en-US"/>
              <a:t>Button  : The Button is used to add various kinds of buttons to the python application.</a:t>
            </a:r>
            <a:endParaRPr/>
          </a:p>
          <a:p>
            <a:pPr indent="-274320" lvl="0" marL="274320" rtl="0" algn="l">
              <a:spcBef>
                <a:spcPts val="520"/>
              </a:spcBef>
              <a:spcAft>
                <a:spcPts val="0"/>
              </a:spcAft>
              <a:buSzPts val="2470"/>
              <a:buChar char="⚫"/>
            </a:pPr>
            <a:r>
              <a:rPr lang="en-US" u="sng">
                <a:solidFill>
                  <a:schemeClr val="hlink"/>
                </a:solidFill>
                <a:hlinkClick r:id="rId3"/>
              </a:rPr>
              <a:t>Checkbutton</a:t>
            </a:r>
            <a:r>
              <a:rPr lang="en-US"/>
              <a:t>   : The Checkbutton is used to display the CheckButton on the window.</a:t>
            </a:r>
            <a:endParaRPr/>
          </a:p>
          <a:p>
            <a:pPr indent="-117475" lvl="0" marL="274320" rtl="0" algn="l">
              <a:spcBef>
                <a:spcPts val="520"/>
              </a:spcBef>
              <a:spcAft>
                <a:spcPts val="0"/>
              </a:spcAft>
              <a:buSzPts val="2470"/>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14"/>
          <p:cNvSpPr txBox="1"/>
          <p:nvPr>
            <p:ph type="title"/>
          </p:nvPr>
        </p:nvSpPr>
        <p:spPr>
          <a:xfrm>
            <a:off x="500034" y="357166"/>
            <a:ext cx="8229600" cy="775542"/>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lang="en-US"/>
              <a:t>Tkinter widgets</a:t>
            </a:r>
            <a:endParaRPr/>
          </a:p>
        </p:txBody>
      </p:sp>
      <p:sp>
        <p:nvSpPr>
          <p:cNvPr id="193" name="Google Shape;193;p14"/>
          <p:cNvSpPr txBox="1"/>
          <p:nvPr>
            <p:ph idx="1" type="body"/>
          </p:nvPr>
        </p:nvSpPr>
        <p:spPr>
          <a:xfrm>
            <a:off x="457200" y="1285860"/>
            <a:ext cx="8229600" cy="5038740"/>
          </a:xfrm>
          <a:prstGeom prst="rect">
            <a:avLst/>
          </a:prstGeom>
          <a:noFill/>
          <a:ln>
            <a:noFill/>
          </a:ln>
        </p:spPr>
        <p:txBody>
          <a:bodyPr anchorCtr="0" anchor="t" bIns="45700" lIns="91425" spcFirstLastPara="1" rIns="91425" wrap="square" tIns="45700">
            <a:normAutofit fontScale="92500" lnSpcReduction="20000"/>
          </a:bodyPr>
          <a:lstStyle/>
          <a:p>
            <a:pPr indent="-274320" lvl="0" marL="274320" rtl="0" algn="l">
              <a:spcBef>
                <a:spcPts val="0"/>
              </a:spcBef>
              <a:spcAft>
                <a:spcPts val="0"/>
              </a:spcAft>
              <a:buSzPct val="95000"/>
              <a:buChar char="⚫"/>
            </a:pPr>
            <a:r>
              <a:rPr lang="en-US" u="sng">
                <a:solidFill>
                  <a:schemeClr val="hlink"/>
                </a:solidFill>
                <a:hlinkClick r:id="rId3"/>
              </a:rPr>
              <a:t>Button</a:t>
            </a:r>
            <a:r>
              <a:rPr lang="en-US"/>
              <a:t>The Button is used to add various kinds of buttons to the python application.2</a:t>
            </a:r>
            <a:endParaRPr/>
          </a:p>
          <a:p>
            <a:pPr indent="-274320" lvl="0" marL="274320" rtl="0" algn="l">
              <a:spcBef>
                <a:spcPts val="481"/>
              </a:spcBef>
              <a:spcAft>
                <a:spcPts val="0"/>
              </a:spcAft>
              <a:buSzPct val="95000"/>
              <a:buChar char="⚫"/>
            </a:pPr>
            <a:r>
              <a:rPr lang="en-US" u="sng">
                <a:solidFill>
                  <a:schemeClr val="hlink"/>
                </a:solidFill>
                <a:hlinkClick r:id="rId4"/>
              </a:rPr>
              <a:t>Checkbutton</a:t>
            </a:r>
            <a:r>
              <a:rPr lang="en-US"/>
              <a:t>The Checkbutton is used to display the CheckButton on the window.</a:t>
            </a:r>
            <a:endParaRPr/>
          </a:p>
          <a:p>
            <a:pPr indent="-274320" lvl="0" marL="274320" rtl="0" algn="l">
              <a:spcBef>
                <a:spcPts val="481"/>
              </a:spcBef>
              <a:spcAft>
                <a:spcPts val="0"/>
              </a:spcAft>
              <a:buSzPct val="95000"/>
              <a:buChar char="⚫"/>
            </a:pPr>
            <a:r>
              <a:rPr lang="en-US" u="sng">
                <a:solidFill>
                  <a:schemeClr val="hlink"/>
                </a:solidFill>
                <a:hlinkClick r:id="rId5"/>
              </a:rPr>
              <a:t>Entry</a:t>
            </a:r>
            <a:r>
              <a:rPr lang="en-US"/>
              <a:t>The entry widget is used to display the single-line text field to the user. It is commonly used to accept user values.</a:t>
            </a:r>
            <a:endParaRPr/>
          </a:p>
          <a:p>
            <a:pPr indent="-274320" lvl="0" marL="274320" rtl="0" algn="l">
              <a:spcBef>
                <a:spcPts val="481"/>
              </a:spcBef>
              <a:spcAft>
                <a:spcPts val="0"/>
              </a:spcAft>
              <a:buSzPct val="95000"/>
              <a:buChar char="⚫"/>
            </a:pPr>
            <a:r>
              <a:rPr lang="en-US" u="sng">
                <a:solidFill>
                  <a:schemeClr val="hlink"/>
                </a:solidFill>
                <a:hlinkClick r:id="rId6"/>
              </a:rPr>
              <a:t>Frame</a:t>
            </a:r>
            <a:r>
              <a:rPr lang="en-US"/>
              <a:t>It can be defined as a container to which, another widget can be added and organized.</a:t>
            </a:r>
            <a:endParaRPr/>
          </a:p>
          <a:p>
            <a:pPr indent="-274320" lvl="0" marL="274320" rtl="0" algn="l">
              <a:spcBef>
                <a:spcPts val="481"/>
              </a:spcBef>
              <a:spcAft>
                <a:spcPts val="0"/>
              </a:spcAft>
              <a:buSzPct val="95000"/>
              <a:buChar char="⚫"/>
            </a:pPr>
            <a:r>
              <a:rPr lang="en-US" u="sng">
                <a:solidFill>
                  <a:schemeClr val="hlink"/>
                </a:solidFill>
                <a:hlinkClick r:id="rId7"/>
              </a:rPr>
              <a:t>Label</a:t>
            </a:r>
            <a:r>
              <a:rPr lang="en-US"/>
              <a:t>A label is a text used to display some message or information about the other widgets.</a:t>
            </a:r>
            <a:endParaRPr/>
          </a:p>
          <a:p>
            <a:pPr indent="-274320" lvl="0" marL="274320" rtl="0" algn="l">
              <a:spcBef>
                <a:spcPts val="481"/>
              </a:spcBef>
              <a:spcAft>
                <a:spcPts val="0"/>
              </a:spcAft>
              <a:buSzPct val="95000"/>
              <a:buChar char="⚫"/>
            </a:pPr>
            <a:r>
              <a:rPr lang="en-US" u="sng">
                <a:solidFill>
                  <a:schemeClr val="hlink"/>
                </a:solidFill>
                <a:hlinkClick r:id="rId8"/>
              </a:rPr>
              <a:t>ListBox</a:t>
            </a:r>
            <a:r>
              <a:rPr lang="en-US"/>
              <a:t>The ListBox widget is used to display a list of options to the user.</a:t>
            </a:r>
            <a:endParaRPr/>
          </a:p>
          <a:p>
            <a:pPr indent="-274320" lvl="0" marL="274320" rtl="0" algn="l">
              <a:spcBef>
                <a:spcPts val="481"/>
              </a:spcBef>
              <a:spcAft>
                <a:spcPts val="0"/>
              </a:spcAft>
              <a:buSzPct val="95000"/>
              <a:buChar char="⚫"/>
            </a:pPr>
            <a:r>
              <a:rPr lang="en-US" u="sng">
                <a:solidFill>
                  <a:schemeClr val="hlink"/>
                </a:solidFill>
                <a:hlinkClick r:id="rId9"/>
              </a:rPr>
              <a:t>Menubutton</a:t>
            </a:r>
            <a:r>
              <a:rPr lang="en-US"/>
              <a:t>The Menubutton is used to display the menu items to the user.9</a:t>
            </a:r>
            <a:r>
              <a:rPr lang="en-US" u="sng">
                <a:solidFill>
                  <a:schemeClr val="hlink"/>
                </a:solidFill>
                <a:hlinkClick r:id="rId10"/>
              </a:rPr>
              <a:t>Menu</a:t>
            </a:r>
            <a:r>
              <a:rPr lang="en-US"/>
              <a:t>It is used to add menu items to the user.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5"/>
          <p:cNvSpPr txBox="1"/>
          <p:nvPr>
            <p:ph type="title"/>
          </p:nvPr>
        </p:nvSpPr>
        <p:spPr>
          <a:xfrm>
            <a:off x="500034" y="357166"/>
            <a:ext cx="8229600" cy="775542"/>
          </a:xfrm>
          <a:prstGeom prst="rect">
            <a:avLst/>
          </a:prstGeom>
          <a:noFill/>
          <a:ln>
            <a:noFill/>
          </a:ln>
        </p:spPr>
        <p:txBody>
          <a:bodyPr anchorCtr="0" anchor="b" bIns="0" lIns="0" spcFirstLastPara="1" rIns="0" wrap="square" tIns="45700">
            <a:normAutofit fontScale="90000"/>
          </a:bodyPr>
          <a:lstStyle/>
          <a:p>
            <a:pPr indent="0" lvl="0" marL="0" rtl="0" algn="ctr">
              <a:spcBef>
                <a:spcPts val="0"/>
              </a:spcBef>
              <a:spcAft>
                <a:spcPts val="0"/>
              </a:spcAft>
              <a:buClr>
                <a:schemeClr val="dk2"/>
              </a:buClr>
              <a:buSzPct val="100000"/>
              <a:buFont typeface="Calibri"/>
              <a:buNone/>
            </a:pPr>
            <a:r>
              <a:rPr lang="en-US"/>
              <a:t>Tkinter widgets</a:t>
            </a:r>
            <a:endParaRPr/>
          </a:p>
        </p:txBody>
      </p:sp>
      <p:sp>
        <p:nvSpPr>
          <p:cNvPr id="199" name="Google Shape;199;p15"/>
          <p:cNvSpPr txBox="1"/>
          <p:nvPr>
            <p:ph idx="1" type="body"/>
          </p:nvPr>
        </p:nvSpPr>
        <p:spPr>
          <a:xfrm>
            <a:off x="457200" y="1285860"/>
            <a:ext cx="8229600" cy="5038740"/>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95000"/>
              <a:buChar char="⚫"/>
            </a:pPr>
            <a:r>
              <a:rPr lang="en-US" u="sng">
                <a:solidFill>
                  <a:schemeClr val="hlink"/>
                </a:solidFill>
                <a:hlinkClick r:id="rId3"/>
              </a:rPr>
              <a:t>Message</a:t>
            </a:r>
            <a:r>
              <a:rPr lang="en-US"/>
              <a:t>The Message widget is used to display the message-box to the user.</a:t>
            </a:r>
            <a:endParaRPr/>
          </a:p>
          <a:p>
            <a:pPr indent="-274320" lvl="0" marL="274320" rtl="0" algn="l">
              <a:spcBef>
                <a:spcPts val="481"/>
              </a:spcBef>
              <a:spcAft>
                <a:spcPts val="0"/>
              </a:spcAft>
              <a:buSzPct val="95000"/>
              <a:buChar char="⚫"/>
            </a:pPr>
            <a:r>
              <a:rPr lang="en-US" u="sng">
                <a:solidFill>
                  <a:schemeClr val="hlink"/>
                </a:solidFill>
                <a:hlinkClick r:id="rId4"/>
              </a:rPr>
              <a:t>Radiobutton</a:t>
            </a:r>
            <a:r>
              <a:rPr lang="en-US"/>
              <a:t>The Radiobutton is different from a checkbutton. Here, the user is provided with various options and the user can select only one option among them.</a:t>
            </a:r>
            <a:endParaRPr/>
          </a:p>
          <a:p>
            <a:pPr indent="-274320" lvl="0" marL="274320" rtl="0" algn="l">
              <a:spcBef>
                <a:spcPts val="481"/>
              </a:spcBef>
              <a:spcAft>
                <a:spcPts val="0"/>
              </a:spcAft>
              <a:buSzPct val="95000"/>
              <a:buChar char="⚫"/>
            </a:pPr>
            <a:r>
              <a:rPr lang="en-US" u="sng">
                <a:solidFill>
                  <a:schemeClr val="hlink"/>
                </a:solidFill>
                <a:hlinkClick r:id="rId5"/>
              </a:rPr>
              <a:t>Scrollbar</a:t>
            </a:r>
            <a:r>
              <a:rPr lang="en-US"/>
              <a:t>It provides the scrollbar to the user so that the user can scroll the window up and down.</a:t>
            </a:r>
            <a:endParaRPr/>
          </a:p>
          <a:p>
            <a:pPr indent="-274320" lvl="0" marL="274320" rtl="0" algn="l">
              <a:spcBef>
                <a:spcPts val="481"/>
              </a:spcBef>
              <a:spcAft>
                <a:spcPts val="0"/>
              </a:spcAft>
              <a:buSzPct val="95000"/>
              <a:buChar char="⚫"/>
            </a:pPr>
            <a:r>
              <a:rPr lang="en-US" u="sng">
                <a:solidFill>
                  <a:schemeClr val="hlink"/>
                </a:solidFill>
                <a:hlinkClick r:id="rId6"/>
              </a:rPr>
              <a:t>Text</a:t>
            </a:r>
            <a:r>
              <a:rPr lang="en-US"/>
              <a:t>It is different from Entry because it provides a multi-line text field to the user so that the user can write the text and edit the text inside it.</a:t>
            </a:r>
            <a:endParaRPr/>
          </a:p>
          <a:p>
            <a:pPr indent="-274320" lvl="0" marL="274320" rtl="0" algn="l">
              <a:spcBef>
                <a:spcPts val="481"/>
              </a:spcBef>
              <a:spcAft>
                <a:spcPts val="0"/>
              </a:spcAft>
              <a:buSzPct val="95000"/>
              <a:buChar char="⚫"/>
            </a:pPr>
            <a:r>
              <a:rPr lang="en-US"/>
              <a:t> </a:t>
            </a:r>
            <a:r>
              <a:rPr lang="en-US" u="sng">
                <a:solidFill>
                  <a:schemeClr val="hlink"/>
                </a:solidFill>
                <a:hlinkClick r:id="rId7"/>
              </a:rPr>
              <a:t>MessageBox</a:t>
            </a:r>
            <a:r>
              <a:rPr lang="en-US"/>
              <a:t>This module is used to display the message-box in the desktop based applications.</a:t>
            </a:r>
            <a:br>
              <a:rPr lang="en-US"/>
            </a:br>
            <a:endParaRPr/>
          </a:p>
        </p:txBody>
      </p:sp>
    </p:spTree>
  </p:cSld>
  <p:clrMapOvr>
    <a:masterClrMapping/>
  </p:clrMapOvr>
</p:sld>
</file>

<file path=ppt/theme/theme1.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2021-01-27T09:01:43Z</dcterms:created>
  <dc:creator>priti</dc:creator>
</cp:coreProperties>
</file>