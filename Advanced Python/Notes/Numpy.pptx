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69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E48264-6C79-4F3D-8006-977AF28E1088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8E506F-2551-44ED-89A3-80FCC1DB77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BBFF445-C31C-4903-B411-146AD585FCAD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6B353F1-FF5E-4524-A012-219D092B21B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95401"/>
            <a:ext cx="7772400" cy="2305050"/>
          </a:xfrm>
        </p:spPr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 </a:t>
            </a:r>
            <a:r>
              <a:rPr lang="en-US" dirty="0" err="1" smtClean="0"/>
              <a:t>Numpy</a:t>
            </a:r>
            <a:r>
              <a:rPr lang="en-US" b="1" dirty="0" smtClean="0"/>
              <a:t> </a:t>
            </a:r>
            <a:r>
              <a:rPr lang="en-US" b="1" dirty="0"/>
              <a:t>	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7315200" cy="1752600"/>
          </a:xfrm>
        </p:spPr>
        <p:txBody>
          <a:bodyPr/>
          <a:lstStyle/>
          <a:p>
            <a:r>
              <a:rPr lang="en-US" dirty="0" err="1"/>
              <a:t>Priti</a:t>
            </a:r>
            <a:r>
              <a:rPr lang="en-US" dirty="0"/>
              <a:t> Patel</a:t>
            </a:r>
          </a:p>
          <a:p>
            <a:r>
              <a:rPr lang="en-US" dirty="0"/>
              <a:t>Department of Computer Applications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Numpy</a:t>
            </a:r>
            <a:r>
              <a:rPr lang="en-US" dirty="0" smtClean="0"/>
              <a:t> : Numerical Python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/>
              <a:t>Numpy</a:t>
            </a:r>
            <a:r>
              <a:rPr lang="en-US" dirty="0" smtClean="0"/>
              <a:t> is the entry point for Data Science </a:t>
            </a:r>
          </a:p>
          <a:p>
            <a:r>
              <a:rPr lang="en-US" b="1" dirty="0" smtClean="0"/>
              <a:t>Need of </a:t>
            </a:r>
            <a:r>
              <a:rPr lang="en-US" b="1" dirty="0" err="1" smtClean="0"/>
              <a:t>Numpy</a:t>
            </a:r>
            <a:endParaRPr lang="en-US" b="1" dirty="0" smtClean="0"/>
          </a:p>
          <a:p>
            <a:r>
              <a:rPr lang="en-US" dirty="0" smtClean="0"/>
              <a:t> Python performs basic mathematical operations. But in Data Science, Machine Learning, Deep Learning and Artificial Intelligence require complex mathematical operations like </a:t>
            </a:r>
          </a:p>
          <a:p>
            <a:pPr lvl="1"/>
            <a:r>
              <a:rPr lang="en-US" dirty="0" smtClean="0"/>
              <a:t> Creation of arrays </a:t>
            </a:r>
          </a:p>
          <a:p>
            <a:pPr lvl="1"/>
            <a:r>
              <a:rPr lang="en-US" dirty="0" smtClean="0"/>
              <a:t>Perform several operations on those arrays </a:t>
            </a:r>
          </a:p>
          <a:p>
            <a:pPr lvl="1"/>
            <a:r>
              <a:rPr lang="en-US" dirty="0" smtClean="0"/>
              <a:t> Integral calculus operations </a:t>
            </a:r>
          </a:p>
          <a:p>
            <a:pPr lvl="1"/>
            <a:r>
              <a:rPr lang="en-US" dirty="0" smtClean="0"/>
              <a:t>Differential equations </a:t>
            </a:r>
          </a:p>
          <a:p>
            <a:pPr lvl="1"/>
            <a:r>
              <a:rPr lang="en-US" dirty="0" smtClean="0"/>
              <a:t>Statistics related operations </a:t>
            </a:r>
          </a:p>
          <a:p>
            <a:r>
              <a:rPr lang="en-US" dirty="0" smtClean="0"/>
              <a:t>These type of operations are not supported by normal Python. </a:t>
            </a:r>
            <a:r>
              <a:rPr lang="en-US" dirty="0" err="1" smtClean="0"/>
              <a:t>Numpy</a:t>
            </a:r>
            <a:r>
              <a:rPr lang="en-US" dirty="0" smtClean="0"/>
              <a:t> can perform all these operations.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Importance of </a:t>
            </a:r>
            <a:r>
              <a:rPr lang="en-US" dirty="0" err="1" smtClean="0"/>
              <a:t>Numpy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ndarray</a:t>
            </a:r>
            <a:r>
              <a:rPr lang="en-US" dirty="0" smtClean="0"/>
              <a:t> (n- dimensional array) is the basic data structure in </a:t>
            </a:r>
            <a:r>
              <a:rPr lang="en-US" dirty="0" err="1" smtClean="0"/>
              <a:t>numpy</a:t>
            </a:r>
            <a:r>
              <a:rPr lang="en-US" dirty="0" smtClean="0"/>
              <a:t>. </a:t>
            </a:r>
          </a:p>
          <a:p>
            <a:r>
              <a:rPr lang="en-US" dirty="0" err="1" smtClean="0"/>
              <a:t>Numpy</a:t>
            </a:r>
            <a:r>
              <a:rPr lang="en-US" dirty="0" smtClean="0"/>
              <a:t> is the backbone of remaining libraries like pandas, </a:t>
            </a:r>
            <a:r>
              <a:rPr lang="en-US" dirty="0" err="1" smtClean="0"/>
              <a:t>matplotlib</a:t>
            </a:r>
            <a:r>
              <a:rPr lang="en-US" dirty="0" smtClean="0"/>
              <a:t>, </a:t>
            </a:r>
            <a:r>
              <a:rPr lang="en-US" dirty="0" err="1" smtClean="0"/>
              <a:t>sklearn</a:t>
            </a:r>
            <a:r>
              <a:rPr lang="en-US" dirty="0" smtClean="0"/>
              <a:t>(</a:t>
            </a:r>
            <a:r>
              <a:rPr lang="en-US" dirty="0" err="1" smtClean="0"/>
              <a:t>sci</a:t>
            </a:r>
            <a:r>
              <a:rPr lang="en-US" dirty="0" smtClean="0"/>
              <a:t> kit learn) etc. </a:t>
            </a:r>
          </a:p>
          <a:p>
            <a:r>
              <a:rPr lang="en-US" dirty="0" err="1" smtClean="0"/>
              <a:t>Numpy</a:t>
            </a:r>
            <a:r>
              <a:rPr lang="en-US" dirty="0" smtClean="0"/>
              <a:t> has </a:t>
            </a:r>
            <a:r>
              <a:rPr lang="en-US" dirty="0" err="1" smtClean="0"/>
              <a:t>Vectorization</a:t>
            </a:r>
            <a:r>
              <a:rPr lang="en-US" dirty="0" smtClean="0"/>
              <a:t> features.</a:t>
            </a:r>
          </a:p>
          <a:p>
            <a:r>
              <a:rPr lang="en-US" dirty="0" err="1" smtClean="0"/>
              <a:t>Numpy</a:t>
            </a:r>
            <a:r>
              <a:rPr lang="en-US" dirty="0" smtClean="0"/>
              <a:t> is freeware and open source library </a:t>
            </a:r>
          </a:p>
          <a:p>
            <a:r>
              <a:rPr lang="en-US" dirty="0" err="1" smtClean="0"/>
              <a:t>Numpy</a:t>
            </a:r>
            <a:r>
              <a:rPr lang="en-US" dirty="0" smtClean="0"/>
              <a:t> library is written in C and Python </a:t>
            </a:r>
          </a:p>
          <a:p>
            <a:r>
              <a:rPr lang="en-US" dirty="0" smtClean="0"/>
              <a:t>Most of </a:t>
            </a:r>
            <a:r>
              <a:rPr lang="en-US" dirty="0" err="1" smtClean="0"/>
              <a:t>Numpy</a:t>
            </a:r>
            <a:r>
              <a:rPr lang="en-US" dirty="0" smtClean="0"/>
              <a:t> is written in C, So performance-wise </a:t>
            </a:r>
            <a:r>
              <a:rPr lang="en-US" dirty="0" err="1" smtClean="0"/>
              <a:t>Numpy</a:t>
            </a:r>
            <a:r>
              <a:rPr lang="en-US" dirty="0" smtClean="0"/>
              <a:t> is the best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ndarray</a:t>
            </a:r>
            <a:r>
              <a:rPr lang="en-US" dirty="0" smtClean="0"/>
              <a:t> in </a:t>
            </a:r>
            <a:r>
              <a:rPr lang="en-US" dirty="0" err="1" smtClean="0"/>
              <a:t>Numpy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numpy</a:t>
            </a:r>
            <a:r>
              <a:rPr lang="en-US" dirty="0" smtClean="0"/>
              <a:t> data is stored in the form of array. 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numpy</a:t>
            </a:r>
            <a:r>
              <a:rPr lang="en-US" dirty="0" smtClean="0"/>
              <a:t> we can hold data by using Array Data Structure. </a:t>
            </a:r>
          </a:p>
          <a:p>
            <a:r>
              <a:rPr lang="en-US" dirty="0" smtClean="0"/>
              <a:t>The Arrays which are created by using </a:t>
            </a:r>
            <a:r>
              <a:rPr lang="en-US" dirty="0" err="1" smtClean="0"/>
              <a:t>numpy</a:t>
            </a:r>
            <a:r>
              <a:rPr lang="en-US" dirty="0" smtClean="0"/>
              <a:t> are called </a:t>
            </a:r>
            <a:r>
              <a:rPr lang="en-US" dirty="0" err="1" smtClean="0"/>
              <a:t>nd</a:t>
            </a:r>
            <a:r>
              <a:rPr lang="en-US" dirty="0" smtClean="0"/>
              <a:t> arrays </a:t>
            </a:r>
          </a:p>
          <a:p>
            <a:r>
              <a:rPr lang="en-US" dirty="0" err="1" smtClean="0"/>
              <a:t>nd</a:t>
            </a:r>
            <a:r>
              <a:rPr lang="en-US" dirty="0" smtClean="0"/>
              <a:t> array ==&gt; N-Dimensional Array or </a:t>
            </a:r>
            <a:r>
              <a:rPr lang="en-US" dirty="0" err="1" smtClean="0"/>
              <a:t>Numpy</a:t>
            </a:r>
            <a:r>
              <a:rPr lang="en-US" dirty="0" smtClean="0"/>
              <a:t> Array</a:t>
            </a:r>
          </a:p>
          <a:p>
            <a:r>
              <a:rPr lang="en-US" dirty="0" smtClean="0"/>
              <a:t>This </a:t>
            </a:r>
            <a:r>
              <a:rPr lang="en-US" dirty="0" err="1" smtClean="0"/>
              <a:t>nd</a:t>
            </a:r>
            <a:r>
              <a:rPr lang="en-US" dirty="0" smtClean="0"/>
              <a:t> array is most commonly used in Data Science libraries like panda, </a:t>
            </a:r>
            <a:r>
              <a:rPr lang="en-US" dirty="0" err="1" smtClean="0"/>
              <a:t>scikit</a:t>
            </a:r>
            <a:r>
              <a:rPr lang="en-US" dirty="0" smtClean="0"/>
              <a:t> learn etc.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Application Areas of </a:t>
            </a:r>
            <a:r>
              <a:rPr lang="en-US" dirty="0" err="1" smtClean="0"/>
              <a:t>Numpy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perform linear algebra functions </a:t>
            </a:r>
          </a:p>
          <a:p>
            <a:r>
              <a:rPr lang="en-US" dirty="0" smtClean="0"/>
              <a:t>To perform linear regression </a:t>
            </a:r>
          </a:p>
          <a:p>
            <a:r>
              <a:rPr lang="en-US" dirty="0" smtClean="0"/>
              <a:t>To perform logistic regression </a:t>
            </a:r>
          </a:p>
          <a:p>
            <a:r>
              <a:rPr lang="en-US" dirty="0" smtClean="0"/>
              <a:t>Deep Neural Networks </a:t>
            </a:r>
          </a:p>
          <a:p>
            <a:r>
              <a:rPr lang="en-US" dirty="0" smtClean="0"/>
              <a:t>K-means clustering </a:t>
            </a:r>
          </a:p>
          <a:p>
            <a:r>
              <a:rPr lang="en-US" dirty="0" smtClean="0"/>
              <a:t> Control Systems </a:t>
            </a:r>
          </a:p>
          <a:p>
            <a:r>
              <a:rPr lang="en-US" dirty="0" smtClean="0"/>
              <a:t> Operational Research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What is an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An indexed collection of homogenous data elements is nothing but array. </a:t>
            </a:r>
          </a:p>
          <a:p>
            <a:r>
              <a:rPr lang="en-US" dirty="0" smtClean="0"/>
              <a:t>It is the most commonly used concept in programming language like C/C++, java etc. </a:t>
            </a:r>
          </a:p>
          <a:p>
            <a:r>
              <a:rPr lang="en-US" dirty="0" smtClean="0"/>
              <a:t>By default arrays concept is not available in python,, instead we can use List. (But make sure list and array both are not same) </a:t>
            </a:r>
          </a:p>
          <a:p>
            <a:r>
              <a:rPr lang="en-US" dirty="0" smtClean="0"/>
              <a:t>But in Python, we can create arrays in the following 2 ways: </a:t>
            </a:r>
          </a:p>
          <a:p>
            <a:pPr lvl="1"/>
            <a:r>
              <a:rPr lang="en-US" dirty="0" smtClean="0"/>
              <a:t>By using array module </a:t>
            </a:r>
          </a:p>
          <a:p>
            <a:pPr lvl="1"/>
            <a:r>
              <a:rPr lang="en-US" dirty="0" smtClean="0"/>
              <a:t>By using </a:t>
            </a:r>
            <a:r>
              <a:rPr lang="en-US" dirty="0" err="1" smtClean="0"/>
              <a:t>numpy</a:t>
            </a:r>
            <a:r>
              <a:rPr lang="en-US" dirty="0" smtClean="0"/>
              <a:t> module </a:t>
            </a:r>
          </a:p>
          <a:p>
            <a:pPr lvl="1">
              <a:buNone/>
            </a:pPr>
            <a:r>
              <a:rPr lang="en-US" dirty="0" smtClean="0"/>
              <a:t>To install latest version </a:t>
            </a:r>
          </a:p>
          <a:p>
            <a:pPr lvl="1">
              <a:buNone/>
            </a:pPr>
            <a:r>
              <a:rPr lang="en-US" dirty="0" smtClean="0"/>
              <a:t>      </a:t>
            </a:r>
            <a:r>
              <a:rPr lang="en-US" b="1" dirty="0" smtClean="0"/>
              <a:t>pip install </a:t>
            </a:r>
            <a:r>
              <a:rPr lang="en-US" b="1" dirty="0" err="1" smtClean="0"/>
              <a:t>numpy</a:t>
            </a: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# Check the version of </a:t>
            </a:r>
            <a:r>
              <a:rPr lang="en-US" dirty="0" err="1" smtClean="0"/>
              <a:t>Numpy</a:t>
            </a:r>
            <a:r>
              <a:rPr lang="en-US" dirty="0" smtClean="0"/>
              <a:t> installed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import </a:t>
            </a:r>
            <a:r>
              <a:rPr lang="en-US" dirty="0" err="1" smtClean="0">
                <a:solidFill>
                  <a:srgbClr val="FF0000"/>
                </a:solidFill>
              </a:rPr>
              <a:t>numpy</a:t>
            </a:r>
            <a:r>
              <a:rPr lang="en-US" dirty="0" smtClean="0">
                <a:solidFill>
                  <a:srgbClr val="FF0000"/>
                </a:solidFill>
              </a:rPr>
              <a:t> as </a:t>
            </a:r>
            <a:r>
              <a:rPr lang="en-US" dirty="0" err="1" smtClean="0">
                <a:solidFill>
                  <a:srgbClr val="FF0000"/>
                </a:solidFill>
              </a:rPr>
              <a:t>np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np.__version</a:t>
            </a:r>
            <a:r>
              <a:rPr lang="en-US" dirty="0" smtClean="0">
                <a:solidFill>
                  <a:srgbClr val="FF0000"/>
                </a:solidFill>
              </a:rPr>
              <a:t>__) </a:t>
            </a:r>
          </a:p>
          <a:p>
            <a:pPr lvl="1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Python List Vs </a:t>
            </a:r>
            <a:r>
              <a:rPr lang="en-US" dirty="0" err="1" smtClean="0"/>
              <a:t>Numpy</a:t>
            </a:r>
            <a:r>
              <a:rPr lang="en-US" dirty="0" smtClean="0"/>
              <a:t> Array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Similarities: </a:t>
            </a:r>
          </a:p>
          <a:p>
            <a:r>
              <a:rPr lang="en-US" dirty="0" smtClean="0"/>
              <a:t>Both can be used to store data </a:t>
            </a:r>
          </a:p>
          <a:p>
            <a:r>
              <a:rPr lang="en-US" dirty="0" smtClean="0"/>
              <a:t>The order will be preserved in both. </a:t>
            </a:r>
          </a:p>
          <a:p>
            <a:r>
              <a:rPr lang="en-US" dirty="0" smtClean="0"/>
              <a:t>Hence indexing and slicing concepts are applicable. </a:t>
            </a:r>
          </a:p>
          <a:p>
            <a:r>
              <a:rPr lang="en-US" dirty="0" smtClean="0"/>
              <a:t> Both are mutable, </a:t>
            </a:r>
            <a:r>
              <a:rPr lang="en-US" dirty="0" err="1" smtClean="0"/>
              <a:t>ie</a:t>
            </a:r>
            <a:r>
              <a:rPr lang="en-US" dirty="0" smtClean="0"/>
              <a:t> we can change the content. </a:t>
            </a:r>
          </a:p>
          <a:p>
            <a:pPr>
              <a:buNone/>
            </a:pPr>
            <a:r>
              <a:rPr lang="en-US" b="1" dirty="0" smtClean="0"/>
              <a:t>Differences:</a:t>
            </a:r>
          </a:p>
          <a:p>
            <a:r>
              <a:rPr lang="en-US" dirty="0" smtClean="0"/>
              <a:t> list is python's inbuilt type. we have to install and import </a:t>
            </a:r>
            <a:r>
              <a:rPr lang="en-US" dirty="0" err="1" smtClean="0"/>
              <a:t>numpy</a:t>
            </a:r>
            <a:r>
              <a:rPr lang="en-US" dirty="0" smtClean="0"/>
              <a:t> explicitly. </a:t>
            </a:r>
          </a:p>
          <a:p>
            <a:r>
              <a:rPr lang="en-US" dirty="0" smtClean="0"/>
              <a:t>List can contain heterogeneous elements. But array contains only homogeneous elements. </a:t>
            </a:r>
          </a:p>
          <a:p>
            <a:r>
              <a:rPr lang="en-US" dirty="0" smtClean="0"/>
              <a:t>On list, we cannot perform vector operations. But on </a:t>
            </a:r>
            <a:r>
              <a:rPr lang="en-US" dirty="0" err="1" smtClean="0"/>
              <a:t>ndarray</a:t>
            </a:r>
            <a:r>
              <a:rPr lang="en-US" dirty="0" smtClean="0"/>
              <a:t> we can perform vector operations. </a:t>
            </a:r>
          </a:p>
          <a:p>
            <a:r>
              <a:rPr lang="en-US" dirty="0" smtClean="0"/>
              <a:t> Arrays consume less memory than list. </a:t>
            </a:r>
          </a:p>
          <a:p>
            <a:r>
              <a:rPr lang="en-US" dirty="0" smtClean="0"/>
              <a:t> Arrays are superfast when compared with list. 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Numpy</a:t>
            </a:r>
            <a:r>
              <a:rPr lang="en-US" dirty="0" smtClean="0"/>
              <a:t> arrays are more convenient to use while performing complex mathematical operations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Python List Vs </a:t>
            </a:r>
            <a:r>
              <a:rPr lang="en-US" dirty="0" err="1" smtClean="0"/>
              <a:t>Numpy</a:t>
            </a:r>
            <a:r>
              <a:rPr lang="en-US" dirty="0" smtClean="0"/>
              <a:t> Array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>
              <a:buNone/>
            </a:pPr>
            <a:r>
              <a:rPr lang="en-US" dirty="0" smtClean="0"/>
              <a:t># On </a:t>
            </a:r>
            <a:r>
              <a:rPr lang="en-US" dirty="0" err="1" smtClean="0"/>
              <a:t>ndarrays</a:t>
            </a:r>
            <a:r>
              <a:rPr lang="en-US" dirty="0" smtClean="0"/>
              <a:t> we can perform vector operations</a:t>
            </a:r>
            <a:endParaRPr lang="en-US" dirty="0" smtClean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import </a:t>
            </a:r>
            <a:r>
              <a:rPr lang="en-US" dirty="0" err="1" smtClean="0">
                <a:solidFill>
                  <a:srgbClr val="FF0000"/>
                </a:solidFill>
              </a:rPr>
              <a:t>numpy</a:t>
            </a:r>
            <a:r>
              <a:rPr lang="en-US" dirty="0" smtClean="0">
                <a:solidFill>
                  <a:srgbClr val="FF0000"/>
                </a:solidFill>
              </a:rPr>
              <a:t> as </a:t>
            </a:r>
            <a:r>
              <a:rPr lang="en-US" dirty="0" err="1" smtClean="0">
                <a:solidFill>
                  <a:srgbClr val="FF0000"/>
                </a:solidFill>
              </a:rPr>
              <a:t>np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a 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([10,20,30,40])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a+2                       # array([12,22,32,42]) </a:t>
            </a:r>
          </a:p>
          <a:p>
            <a:pPr lvl="1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en-US" dirty="0" smtClean="0"/>
              <a:t># Arrays consume less memory than list. </a:t>
            </a:r>
          </a:p>
          <a:p>
            <a:pPr lvl="1">
              <a:buNone/>
            </a:pPr>
            <a:r>
              <a:rPr lang="en-US" sz="1900" dirty="0" smtClean="0">
                <a:solidFill>
                  <a:srgbClr val="FF0000"/>
                </a:solidFill>
              </a:rPr>
              <a:t>import </a:t>
            </a:r>
            <a:r>
              <a:rPr lang="en-US" sz="1900" dirty="0" err="1" smtClean="0">
                <a:solidFill>
                  <a:srgbClr val="FF0000"/>
                </a:solidFill>
              </a:rPr>
              <a:t>numpy</a:t>
            </a:r>
            <a:r>
              <a:rPr lang="en-US" sz="1900" dirty="0" smtClean="0">
                <a:solidFill>
                  <a:srgbClr val="FF0000"/>
                </a:solidFill>
              </a:rPr>
              <a:t> as </a:t>
            </a:r>
            <a:r>
              <a:rPr lang="en-US" sz="1900" dirty="0" err="1" smtClean="0">
                <a:solidFill>
                  <a:srgbClr val="FF0000"/>
                </a:solidFill>
              </a:rPr>
              <a:t>np</a:t>
            </a:r>
            <a:r>
              <a:rPr lang="en-US" sz="1900" dirty="0" smtClean="0">
                <a:solidFill>
                  <a:srgbClr val="FF0000"/>
                </a:solidFill>
              </a:rPr>
              <a:t> </a:t>
            </a:r>
          </a:p>
          <a:p>
            <a:pPr lvl="1">
              <a:buNone/>
            </a:pPr>
            <a:r>
              <a:rPr lang="en-US" sz="1900" dirty="0" smtClean="0">
                <a:solidFill>
                  <a:srgbClr val="FF0000"/>
                </a:solidFill>
              </a:rPr>
              <a:t>import sys</a:t>
            </a:r>
          </a:p>
          <a:p>
            <a:pPr lvl="1">
              <a:buNone/>
            </a:pPr>
            <a:r>
              <a:rPr lang="en-US" sz="1900" dirty="0" smtClean="0">
                <a:solidFill>
                  <a:srgbClr val="FF0000"/>
                </a:solidFill>
              </a:rPr>
              <a:t> l = [10,20,30,40,50,60,70,80,90,100,10,20,30,40,50,60,70,80,90,100]</a:t>
            </a:r>
          </a:p>
          <a:p>
            <a:pPr lvl="1">
              <a:buNone/>
            </a:pPr>
            <a:r>
              <a:rPr lang="en-US" sz="1900" dirty="0" smtClean="0">
                <a:solidFill>
                  <a:srgbClr val="FF0000"/>
                </a:solidFill>
              </a:rPr>
              <a:t> a = </a:t>
            </a:r>
            <a:r>
              <a:rPr lang="en-US" sz="1900" dirty="0" err="1" smtClean="0">
                <a:solidFill>
                  <a:srgbClr val="FF0000"/>
                </a:solidFill>
              </a:rPr>
              <a:t>np.array</a:t>
            </a:r>
            <a:r>
              <a:rPr lang="en-US" sz="1900" dirty="0" smtClean="0">
                <a:solidFill>
                  <a:srgbClr val="FF0000"/>
                </a:solidFill>
              </a:rPr>
              <a:t>([10,20,30,40,50,60,70,80,90,100,10,20,30,40,50,60,70,80,90,100])</a:t>
            </a:r>
          </a:p>
          <a:p>
            <a:pPr lvl="1">
              <a:buNone/>
            </a:pPr>
            <a:r>
              <a:rPr lang="en-US" sz="1900" dirty="0" smtClean="0">
                <a:solidFill>
                  <a:srgbClr val="FF0000"/>
                </a:solidFill>
              </a:rPr>
              <a:t> print('The Size of list l =&gt; ',</a:t>
            </a:r>
            <a:r>
              <a:rPr lang="en-US" sz="1900" dirty="0" err="1" smtClean="0">
                <a:solidFill>
                  <a:srgbClr val="FF0000"/>
                </a:solidFill>
              </a:rPr>
              <a:t>sys.getsizeof</a:t>
            </a:r>
            <a:r>
              <a:rPr lang="en-US" sz="1900" dirty="0" smtClean="0">
                <a:solidFill>
                  <a:srgbClr val="FF0000"/>
                </a:solidFill>
              </a:rPr>
              <a:t>(l))</a:t>
            </a:r>
          </a:p>
          <a:p>
            <a:pPr lvl="1">
              <a:buNone/>
            </a:pPr>
            <a:r>
              <a:rPr lang="en-US" sz="1900" dirty="0" smtClean="0">
                <a:solidFill>
                  <a:srgbClr val="FF0000"/>
                </a:solidFill>
              </a:rPr>
              <a:t> print('The Size of </a:t>
            </a:r>
            <a:r>
              <a:rPr lang="en-US" sz="1900" dirty="0" err="1" smtClean="0">
                <a:solidFill>
                  <a:srgbClr val="FF0000"/>
                </a:solidFill>
              </a:rPr>
              <a:t>ndarray</a:t>
            </a:r>
            <a:r>
              <a:rPr lang="en-US" sz="1900" dirty="0" smtClean="0">
                <a:solidFill>
                  <a:srgbClr val="FF0000"/>
                </a:solidFill>
              </a:rPr>
              <a:t> a =&gt; ',</a:t>
            </a:r>
            <a:r>
              <a:rPr lang="en-US" sz="1900" dirty="0" err="1" smtClean="0">
                <a:solidFill>
                  <a:srgbClr val="FF0000"/>
                </a:solidFill>
              </a:rPr>
              <a:t>sys.getsizeof</a:t>
            </a:r>
            <a:r>
              <a:rPr lang="en-US" sz="1900" dirty="0" smtClean="0">
                <a:solidFill>
                  <a:srgbClr val="FF0000"/>
                </a:solidFill>
              </a:rPr>
              <a:t>(a))</a:t>
            </a:r>
            <a:endParaRPr lang="en-US" sz="19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Creation of </a:t>
            </a:r>
            <a:r>
              <a:rPr lang="en-US" dirty="0" err="1" smtClean="0"/>
              <a:t>Numpy</a:t>
            </a:r>
            <a:r>
              <a:rPr lang="en-US" dirty="0" smtClean="0"/>
              <a:t>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 (</a:t>
            </a:r>
            <a:r>
              <a:rPr lang="en-US" dirty="0" err="1" smtClean="0"/>
              <a:t>ndarray</a:t>
            </a:r>
            <a:r>
              <a:rPr lang="en-US" dirty="0" smtClean="0"/>
              <a:t>) creation using array module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import array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a = </a:t>
            </a:r>
            <a:r>
              <a:rPr lang="en-US" dirty="0" err="1" smtClean="0">
                <a:solidFill>
                  <a:srgbClr val="FF0000"/>
                </a:solidFill>
              </a:rPr>
              <a:t>array.array</a:t>
            </a:r>
            <a:r>
              <a:rPr lang="en-US" dirty="0" smtClean="0">
                <a:solidFill>
                  <a:srgbClr val="FF0000"/>
                </a:solidFill>
              </a:rPr>
              <a:t>('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',[10,20,30])  #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 represents 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 type array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f"Type</a:t>
            </a:r>
            <a:r>
              <a:rPr lang="en-US" dirty="0" smtClean="0">
                <a:solidFill>
                  <a:srgbClr val="FF0000"/>
                </a:solidFill>
              </a:rPr>
              <a:t> of a ==&gt; {type(a)}")   # </a:t>
            </a:r>
            <a:r>
              <a:rPr lang="en-US" dirty="0" err="1" smtClean="0">
                <a:solidFill>
                  <a:srgbClr val="FF0000"/>
                </a:solidFill>
              </a:rPr>
              <a:t>array.array</a:t>
            </a:r>
            <a:endParaRPr lang="en-US" dirty="0" smtClean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print(</a:t>
            </a:r>
            <a:r>
              <a:rPr lang="en-US" dirty="0" err="1" smtClean="0">
                <a:solidFill>
                  <a:srgbClr val="FF0000"/>
                </a:solidFill>
              </a:rPr>
              <a:t>f"a</a:t>
            </a:r>
            <a:r>
              <a:rPr lang="en-US" dirty="0" smtClean="0">
                <a:solidFill>
                  <a:srgbClr val="FF0000"/>
                </a:solidFill>
              </a:rPr>
              <a:t> value ==&gt; {a}")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print("Elements one by one")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for x in range(</a:t>
            </a:r>
            <a:r>
              <a:rPr lang="en-US" dirty="0" err="1" smtClean="0">
                <a:solidFill>
                  <a:srgbClr val="FF0000"/>
                </a:solidFill>
              </a:rPr>
              <a:t>len</a:t>
            </a:r>
            <a:r>
              <a:rPr lang="en-US" dirty="0" smtClean="0">
                <a:solidFill>
                  <a:srgbClr val="FF0000"/>
                </a:solidFill>
              </a:rPr>
              <a:t>(a)):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		print(a[x]) </a:t>
            </a:r>
            <a:r>
              <a:rPr lang="en-US" dirty="0" err="1" smtClean="0">
                <a:solidFill>
                  <a:srgbClr val="FF0000"/>
                </a:solidFill>
              </a:rPr>
              <a:t>ndarray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# 1-D array creation from list or </a:t>
            </a:r>
            <a:r>
              <a:rPr lang="en-US" dirty="0" err="1" smtClean="0"/>
              <a:t>tuple</a:t>
            </a:r>
            <a:endParaRPr lang="en-US" dirty="0" smtClean="0"/>
          </a:p>
          <a:p>
            <a:pPr lvl="2">
              <a:buNone/>
            </a:pP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l = [10,20,30] 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print(f 'Type of l ==&gt;      {type(l)}')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 a 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(l)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 print(</a:t>
            </a:r>
            <a:r>
              <a:rPr lang="en-US" dirty="0" err="1" smtClean="0">
                <a:solidFill>
                  <a:srgbClr val="FF0000"/>
                </a:solidFill>
              </a:rPr>
              <a:t>f'Type</a:t>
            </a:r>
            <a:r>
              <a:rPr lang="en-US" dirty="0" smtClean="0">
                <a:solidFill>
                  <a:srgbClr val="FF0000"/>
                </a:solidFill>
              </a:rPr>
              <a:t> of a ==&gt;      {type(a)}') 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f"a</a:t>
            </a:r>
            <a:r>
              <a:rPr lang="en-US" dirty="0" smtClean="0">
                <a:solidFill>
                  <a:srgbClr val="FF0000"/>
                </a:solidFill>
              </a:rPr>
              <a:t> ==&gt;    {a}")</a:t>
            </a:r>
          </a:p>
          <a:p>
            <a:pPr lvl="2">
              <a:buNone/>
            </a:pPr>
            <a:endParaRPr lang="en-US" b="1" dirty="0" smtClean="0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b="1" dirty="0" smtClean="0"/>
              <a:t>To know properties of </a:t>
            </a:r>
            <a:r>
              <a:rPr lang="en-US" b="1" dirty="0" err="1" smtClean="0"/>
              <a:t>ndarray</a:t>
            </a:r>
            <a:r>
              <a:rPr lang="en-US" b="1" dirty="0" smtClean="0"/>
              <a:t> </a:t>
            </a:r>
          </a:p>
          <a:p>
            <a:pPr lvl="2"/>
            <a:r>
              <a:rPr lang="en-US" dirty="0" smtClean="0"/>
              <a:t> </a:t>
            </a:r>
            <a:r>
              <a:rPr lang="en-US" dirty="0" err="1" smtClean="0"/>
              <a:t>np.ndim</a:t>
            </a:r>
            <a:r>
              <a:rPr lang="en-US" dirty="0" smtClean="0"/>
              <a:t> ==&gt; to know the dimension of the </a:t>
            </a:r>
            <a:r>
              <a:rPr lang="en-US" dirty="0" err="1" smtClean="0"/>
              <a:t>ndarray</a:t>
            </a:r>
            <a:endParaRPr lang="en-US" dirty="0" smtClean="0"/>
          </a:p>
          <a:p>
            <a:pPr lvl="2"/>
            <a:r>
              <a:rPr lang="en-US" dirty="0" smtClean="0"/>
              <a:t> </a:t>
            </a:r>
            <a:r>
              <a:rPr lang="en-US" dirty="0" err="1" smtClean="0"/>
              <a:t>np.dtype</a:t>
            </a:r>
            <a:r>
              <a:rPr lang="en-US" dirty="0" smtClean="0"/>
              <a:t> ==&gt; to know the data type of the elements in the </a:t>
            </a:r>
            <a:r>
              <a:rPr lang="en-US" dirty="0" err="1" smtClean="0"/>
              <a:t>ndarray</a:t>
            </a:r>
            <a:r>
              <a:rPr lang="en-US" dirty="0" smtClean="0"/>
              <a:t> </a:t>
            </a:r>
          </a:p>
          <a:p>
            <a:pPr lvl="2"/>
            <a:r>
              <a:rPr lang="en-US" dirty="0" err="1" smtClean="0"/>
              <a:t>np.size</a:t>
            </a:r>
            <a:r>
              <a:rPr lang="en-US" dirty="0" smtClean="0"/>
              <a:t> ==&gt; to know the total number of elements in the array.</a:t>
            </a:r>
          </a:p>
          <a:p>
            <a:pPr lvl="2"/>
            <a:r>
              <a:rPr lang="en-US" dirty="0" err="1" smtClean="0"/>
              <a:t>np.shape</a:t>
            </a:r>
            <a:r>
              <a:rPr lang="en-US" dirty="0" smtClean="0"/>
              <a:t> ==&gt; returns the shape of an array in </a:t>
            </a:r>
            <a:r>
              <a:rPr lang="en-US" dirty="0" err="1" smtClean="0"/>
              <a:t>tuple</a:t>
            </a:r>
            <a:r>
              <a:rPr lang="en-US" dirty="0" smtClean="0"/>
              <a:t> form</a:t>
            </a:r>
          </a:p>
          <a:p>
            <a:pPr lvl="2"/>
            <a:endParaRPr lang="en-US" dirty="0" smtClean="0"/>
          </a:p>
          <a:p>
            <a:pPr lvl="2"/>
            <a:r>
              <a:rPr lang="en-US" dirty="0" smtClean="0"/>
              <a:t># properties of </a:t>
            </a:r>
            <a:r>
              <a:rPr lang="en-US" dirty="0" err="1" smtClean="0"/>
              <a:t>ndarray</a:t>
            </a:r>
            <a:r>
              <a:rPr lang="en-US" dirty="0" smtClean="0"/>
              <a:t> 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f'The</a:t>
            </a:r>
            <a:r>
              <a:rPr lang="en-US" dirty="0" smtClean="0">
                <a:solidFill>
                  <a:srgbClr val="FF0000"/>
                </a:solidFill>
              </a:rPr>
              <a:t> dimensions of the array a ==&gt; {</a:t>
            </a:r>
            <a:r>
              <a:rPr lang="en-US" dirty="0" err="1" smtClean="0">
                <a:solidFill>
                  <a:srgbClr val="FF0000"/>
                </a:solidFill>
              </a:rPr>
              <a:t>a.ndim</a:t>
            </a:r>
            <a:r>
              <a:rPr lang="en-US" dirty="0" smtClean="0">
                <a:solidFill>
                  <a:srgbClr val="FF0000"/>
                </a:solidFill>
              </a:rPr>
              <a:t>}') 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f'The</a:t>
            </a:r>
            <a:r>
              <a:rPr lang="en-US" dirty="0" smtClean="0">
                <a:solidFill>
                  <a:srgbClr val="FF0000"/>
                </a:solidFill>
              </a:rPr>
              <a:t> data type of elements of array a ==&gt; {</a:t>
            </a:r>
            <a:r>
              <a:rPr lang="en-US" dirty="0" err="1" smtClean="0">
                <a:solidFill>
                  <a:srgbClr val="FF0000"/>
                </a:solidFill>
              </a:rPr>
              <a:t>a.dtype</a:t>
            </a:r>
            <a:r>
              <a:rPr lang="en-US" dirty="0" smtClean="0">
                <a:solidFill>
                  <a:srgbClr val="FF0000"/>
                </a:solidFill>
              </a:rPr>
              <a:t>}') 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f'The</a:t>
            </a:r>
            <a:r>
              <a:rPr lang="en-US" dirty="0" smtClean="0">
                <a:solidFill>
                  <a:srgbClr val="FF0000"/>
                </a:solidFill>
              </a:rPr>
              <a:t> size of the array a ==&gt; {</a:t>
            </a:r>
            <a:r>
              <a:rPr lang="en-US" dirty="0" err="1" smtClean="0">
                <a:solidFill>
                  <a:srgbClr val="FF0000"/>
                </a:solidFill>
              </a:rPr>
              <a:t>a.size</a:t>
            </a:r>
            <a:r>
              <a:rPr lang="en-US" dirty="0" smtClean="0">
                <a:solidFill>
                  <a:srgbClr val="FF0000"/>
                </a:solidFill>
              </a:rPr>
              <a:t>}') 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f'The</a:t>
            </a:r>
            <a:r>
              <a:rPr lang="en-US" dirty="0" smtClean="0">
                <a:solidFill>
                  <a:srgbClr val="FF0000"/>
                </a:solidFill>
              </a:rPr>
              <a:t> shape of the array a ==&gt; {</a:t>
            </a:r>
            <a:r>
              <a:rPr lang="en-US" dirty="0" err="1" smtClean="0">
                <a:solidFill>
                  <a:srgbClr val="FF0000"/>
                </a:solidFill>
              </a:rPr>
              <a:t>a.shape</a:t>
            </a:r>
            <a:r>
              <a:rPr lang="en-US" dirty="0" smtClean="0">
                <a:solidFill>
                  <a:srgbClr val="FF0000"/>
                </a:solidFill>
              </a:rPr>
              <a:t>}')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1-D array creating using </a:t>
            </a:r>
            <a:r>
              <a:rPr lang="en-US" dirty="0" err="1" smtClean="0"/>
              <a:t>tuples</a:t>
            </a:r>
            <a:r>
              <a:rPr lang="en-US" dirty="0" smtClean="0"/>
              <a:t> 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FF0000"/>
                </a:solidFill>
              </a:rPr>
              <a:t>t = ('</a:t>
            </a:r>
            <a:r>
              <a:rPr lang="en-US" sz="2200" dirty="0" err="1" smtClean="0">
                <a:solidFill>
                  <a:srgbClr val="FF0000"/>
                </a:solidFill>
              </a:rPr>
              <a:t>krishna','nandu','moneesh</a:t>
            </a:r>
            <a:r>
              <a:rPr lang="en-US" sz="2200" dirty="0" smtClean="0">
                <a:solidFill>
                  <a:srgbClr val="FF0000"/>
                </a:solidFill>
              </a:rPr>
              <a:t>')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FF0000"/>
                </a:solidFill>
              </a:rPr>
              <a:t>print(</a:t>
            </a:r>
            <a:r>
              <a:rPr lang="en-US" sz="2200" dirty="0" err="1" smtClean="0">
                <a:solidFill>
                  <a:srgbClr val="FF0000"/>
                </a:solidFill>
              </a:rPr>
              <a:t>f'Type</a:t>
            </a:r>
            <a:r>
              <a:rPr lang="en-US" sz="2200" dirty="0" smtClean="0">
                <a:solidFill>
                  <a:srgbClr val="FF0000"/>
                </a:solidFill>
              </a:rPr>
              <a:t> of t ==&gt; {type(t)}') 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FF0000"/>
                </a:solidFill>
              </a:rPr>
              <a:t>a = </a:t>
            </a:r>
            <a:r>
              <a:rPr lang="en-US" sz="2200" dirty="0" err="1" smtClean="0">
                <a:solidFill>
                  <a:srgbClr val="FF0000"/>
                </a:solidFill>
              </a:rPr>
              <a:t>np.array</a:t>
            </a:r>
            <a:r>
              <a:rPr lang="en-US" sz="2200" dirty="0" smtClean="0">
                <a:solidFill>
                  <a:srgbClr val="FF0000"/>
                </a:solidFill>
              </a:rPr>
              <a:t>(t) 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FF0000"/>
                </a:solidFill>
              </a:rPr>
              <a:t>print(</a:t>
            </a:r>
            <a:r>
              <a:rPr lang="en-US" sz="2200" dirty="0" err="1" smtClean="0">
                <a:solidFill>
                  <a:srgbClr val="FF0000"/>
                </a:solidFill>
              </a:rPr>
              <a:t>f'Type</a:t>
            </a:r>
            <a:r>
              <a:rPr lang="en-US" sz="2200" dirty="0" smtClean="0">
                <a:solidFill>
                  <a:srgbClr val="FF0000"/>
                </a:solidFill>
              </a:rPr>
              <a:t> of a ==&gt; {type(a)}') 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FF0000"/>
                </a:solidFill>
              </a:rPr>
              <a:t>print(</a:t>
            </a:r>
            <a:r>
              <a:rPr lang="en-US" sz="2200" dirty="0" err="1" smtClean="0">
                <a:solidFill>
                  <a:srgbClr val="FF0000"/>
                </a:solidFill>
              </a:rPr>
              <a:t>f'The</a:t>
            </a:r>
            <a:r>
              <a:rPr lang="en-US" sz="2200" dirty="0" smtClean="0">
                <a:solidFill>
                  <a:srgbClr val="FF0000"/>
                </a:solidFill>
              </a:rPr>
              <a:t> data type of elements of array a ==&gt; {</a:t>
            </a:r>
            <a:r>
              <a:rPr lang="en-US" sz="2200" dirty="0" err="1" smtClean="0">
                <a:solidFill>
                  <a:srgbClr val="FF0000"/>
                </a:solidFill>
              </a:rPr>
              <a:t>a.dtype</a:t>
            </a:r>
            <a:r>
              <a:rPr lang="en-US" sz="2200" dirty="0" smtClean="0">
                <a:solidFill>
                  <a:srgbClr val="FF0000"/>
                </a:solidFill>
              </a:rPr>
              <a:t>}')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FF0000"/>
                </a:solidFill>
              </a:rPr>
              <a:t>print(</a:t>
            </a:r>
            <a:r>
              <a:rPr lang="en-US" sz="2200" dirty="0" err="1" smtClean="0">
                <a:solidFill>
                  <a:srgbClr val="FF0000"/>
                </a:solidFill>
              </a:rPr>
              <a:t>f'The</a:t>
            </a:r>
            <a:r>
              <a:rPr lang="en-US" sz="2200" dirty="0" smtClean="0">
                <a:solidFill>
                  <a:srgbClr val="FF0000"/>
                </a:solidFill>
              </a:rPr>
              <a:t> size of the array a ==&gt; {</a:t>
            </a:r>
            <a:r>
              <a:rPr lang="en-US" sz="2200" dirty="0" err="1" smtClean="0">
                <a:solidFill>
                  <a:srgbClr val="FF0000"/>
                </a:solidFill>
              </a:rPr>
              <a:t>a.size</a:t>
            </a:r>
            <a:r>
              <a:rPr lang="en-US" sz="2200" dirty="0" smtClean="0">
                <a:solidFill>
                  <a:srgbClr val="FF0000"/>
                </a:solidFill>
              </a:rPr>
              <a:t>}')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FF0000"/>
                </a:solidFill>
              </a:rPr>
              <a:t>print(</a:t>
            </a:r>
            <a:r>
              <a:rPr lang="en-US" sz="2200" dirty="0" err="1" smtClean="0">
                <a:solidFill>
                  <a:srgbClr val="FF0000"/>
                </a:solidFill>
              </a:rPr>
              <a:t>f'The</a:t>
            </a:r>
            <a:r>
              <a:rPr lang="en-US" sz="2200" dirty="0" smtClean="0">
                <a:solidFill>
                  <a:srgbClr val="FF0000"/>
                </a:solidFill>
              </a:rPr>
              <a:t> shape of the array a ==&gt; {</a:t>
            </a:r>
            <a:r>
              <a:rPr lang="en-US" sz="2200" dirty="0" err="1" smtClean="0">
                <a:solidFill>
                  <a:srgbClr val="FF0000"/>
                </a:solidFill>
              </a:rPr>
              <a:t>a.shape</a:t>
            </a:r>
            <a:r>
              <a:rPr lang="en-US" sz="2200" dirty="0" smtClean="0">
                <a:solidFill>
                  <a:srgbClr val="FF0000"/>
                </a:solidFill>
              </a:rPr>
              <a:t>}') </a:t>
            </a:r>
          </a:p>
          <a:p>
            <a:pPr lvl="1">
              <a:buNone/>
            </a:pPr>
            <a:r>
              <a:rPr lang="en-US" sz="2200" dirty="0" smtClean="0">
                <a:solidFill>
                  <a:srgbClr val="FF0000"/>
                </a:solidFill>
              </a:rPr>
              <a:t>print(</a:t>
            </a:r>
            <a:r>
              <a:rPr lang="en-US" sz="2200" dirty="0" err="1" smtClean="0">
                <a:solidFill>
                  <a:srgbClr val="FF0000"/>
                </a:solidFill>
              </a:rPr>
              <a:t>f"a</a:t>
            </a:r>
            <a:r>
              <a:rPr lang="en-US" sz="2200" dirty="0" smtClean="0">
                <a:solidFill>
                  <a:srgbClr val="FF0000"/>
                </a:solidFill>
              </a:rPr>
              <a:t> ==&gt; {a}") </a:t>
            </a:r>
            <a:endParaRPr lang="en-US" sz="2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2-D array(Matrix) creation using Nested Lists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a 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([[10,20,30],[40,50,60],[70,80,90]])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print(</a:t>
            </a:r>
            <a:r>
              <a:rPr lang="en-US" dirty="0" err="1" smtClean="0">
                <a:solidFill>
                  <a:srgbClr val="FF0000"/>
                </a:solidFill>
              </a:rPr>
              <a:t>f'Type</a:t>
            </a:r>
            <a:r>
              <a:rPr lang="en-US" dirty="0" smtClean="0">
                <a:solidFill>
                  <a:srgbClr val="FF0000"/>
                </a:solidFill>
              </a:rPr>
              <a:t> of a ==&gt; {type(a)}')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f'a</a:t>
            </a:r>
            <a:r>
              <a:rPr lang="en-US" dirty="0" smtClean="0">
                <a:solidFill>
                  <a:srgbClr val="FF0000"/>
                </a:solidFill>
              </a:rPr>
              <a:t> ==&gt; \n {a}')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f'The</a:t>
            </a:r>
            <a:r>
              <a:rPr lang="en-US" dirty="0" smtClean="0">
                <a:solidFill>
                  <a:srgbClr val="FF0000"/>
                </a:solidFill>
              </a:rPr>
              <a:t> dimensions of the array a ==&gt; {</a:t>
            </a:r>
            <a:r>
              <a:rPr lang="en-US" dirty="0" err="1" smtClean="0">
                <a:solidFill>
                  <a:srgbClr val="FF0000"/>
                </a:solidFill>
              </a:rPr>
              <a:t>a.ndim</a:t>
            </a:r>
            <a:r>
              <a:rPr lang="en-US" dirty="0" smtClean="0">
                <a:solidFill>
                  <a:srgbClr val="FF0000"/>
                </a:solidFill>
              </a:rPr>
              <a:t>}')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f'The</a:t>
            </a:r>
            <a:r>
              <a:rPr lang="en-US" dirty="0" smtClean="0">
                <a:solidFill>
                  <a:srgbClr val="FF0000"/>
                </a:solidFill>
              </a:rPr>
              <a:t> data type of elements of array a ==&gt; {</a:t>
            </a:r>
            <a:r>
              <a:rPr lang="en-US" dirty="0" err="1" smtClean="0">
                <a:solidFill>
                  <a:srgbClr val="FF0000"/>
                </a:solidFill>
              </a:rPr>
              <a:t>a.dtype</a:t>
            </a:r>
            <a:r>
              <a:rPr lang="en-US" dirty="0" smtClean="0">
                <a:solidFill>
                  <a:srgbClr val="FF0000"/>
                </a:solidFill>
              </a:rPr>
              <a:t>}')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f'The</a:t>
            </a:r>
            <a:r>
              <a:rPr lang="en-US" dirty="0" smtClean="0">
                <a:solidFill>
                  <a:srgbClr val="FF0000"/>
                </a:solidFill>
              </a:rPr>
              <a:t> size of the array a ==&gt; {</a:t>
            </a:r>
            <a:r>
              <a:rPr lang="en-US" dirty="0" err="1" smtClean="0">
                <a:solidFill>
                  <a:srgbClr val="FF0000"/>
                </a:solidFill>
              </a:rPr>
              <a:t>a.size</a:t>
            </a:r>
            <a:r>
              <a:rPr lang="en-US" dirty="0" smtClean="0">
                <a:solidFill>
                  <a:srgbClr val="FF0000"/>
                </a:solidFill>
              </a:rPr>
              <a:t>}')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f'The</a:t>
            </a:r>
            <a:r>
              <a:rPr lang="en-US" dirty="0" smtClean="0">
                <a:solidFill>
                  <a:srgbClr val="FF0000"/>
                </a:solidFill>
              </a:rPr>
              <a:t> shape of the array a ==&gt; {</a:t>
            </a:r>
            <a:r>
              <a:rPr lang="en-US" dirty="0" err="1" smtClean="0">
                <a:solidFill>
                  <a:srgbClr val="FF0000"/>
                </a:solidFill>
              </a:rPr>
              <a:t>a.shape</a:t>
            </a:r>
            <a:r>
              <a:rPr lang="en-US" dirty="0" smtClean="0">
                <a:solidFill>
                  <a:srgbClr val="FF0000"/>
                </a:solidFill>
              </a:rPr>
              <a:t>}')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Array contains only homogenous elements </a:t>
            </a:r>
          </a:p>
          <a:p>
            <a:r>
              <a:rPr lang="en-US" dirty="0" smtClean="0"/>
              <a:t>If list contains </a:t>
            </a:r>
            <a:r>
              <a:rPr lang="en-US" dirty="0" err="1" smtClean="0"/>
              <a:t>heterogenous</a:t>
            </a:r>
            <a:r>
              <a:rPr lang="en-US" dirty="0" smtClean="0"/>
              <a:t> elements, and while creating the array </a:t>
            </a:r>
            <a:r>
              <a:rPr lang="en-US" dirty="0" err="1" smtClean="0"/>
              <a:t>upcasting</a:t>
            </a:r>
            <a:r>
              <a:rPr lang="en-US" dirty="0" smtClean="0"/>
              <a:t> will be performed. </a:t>
            </a:r>
          </a:p>
          <a:p>
            <a:r>
              <a:rPr lang="en-US" dirty="0" smtClean="0"/>
              <a:t># list contains </a:t>
            </a:r>
            <a:r>
              <a:rPr lang="en-US" dirty="0" err="1" smtClean="0"/>
              <a:t>heterogenous</a:t>
            </a:r>
            <a:r>
              <a:rPr lang="en-US" dirty="0" smtClean="0"/>
              <a:t> elements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l = [10,20,30.5]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a 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(l) # </a:t>
            </a:r>
            <a:r>
              <a:rPr lang="en-US" dirty="0" err="1" smtClean="0">
                <a:solidFill>
                  <a:srgbClr val="FF0000"/>
                </a:solidFill>
              </a:rPr>
              <a:t>upcasting</a:t>
            </a:r>
            <a:r>
              <a:rPr lang="en-US" dirty="0" smtClean="0">
                <a:solidFill>
                  <a:srgbClr val="FF0000"/>
                </a:solidFill>
              </a:rPr>
              <a:t> to float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 print(</a:t>
            </a:r>
            <a:r>
              <a:rPr lang="en-US" dirty="0" err="1" smtClean="0">
                <a:solidFill>
                  <a:srgbClr val="FF0000"/>
                </a:solidFill>
              </a:rPr>
              <a:t>f'a</a:t>
            </a:r>
            <a:r>
              <a:rPr lang="en-US" dirty="0" smtClean="0">
                <a:solidFill>
                  <a:srgbClr val="FF0000"/>
                </a:solidFill>
              </a:rPr>
              <a:t> :: {a}') 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f'data</a:t>
            </a:r>
            <a:r>
              <a:rPr lang="en-US" dirty="0" smtClean="0">
                <a:solidFill>
                  <a:srgbClr val="FF0000"/>
                </a:solidFill>
              </a:rPr>
              <a:t> type of elements of a ==&gt; {</a:t>
            </a:r>
            <a:r>
              <a:rPr lang="en-US" dirty="0" err="1" smtClean="0">
                <a:solidFill>
                  <a:srgbClr val="FF0000"/>
                </a:solidFill>
              </a:rPr>
              <a:t>a.dtype</a:t>
            </a:r>
            <a:r>
              <a:rPr lang="en-US" dirty="0" smtClean="0">
                <a:solidFill>
                  <a:srgbClr val="FF0000"/>
                </a:solidFill>
              </a:rPr>
              <a:t>}')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Creating arrays with particular </a:t>
            </a:r>
            <a:r>
              <a:rPr lang="en-US" dirty="0" err="1" smtClean="0"/>
              <a:t>datatype</a:t>
            </a:r>
            <a:r>
              <a:rPr lang="en-US" dirty="0" smtClean="0"/>
              <a:t> </a:t>
            </a:r>
          </a:p>
          <a:p>
            <a:r>
              <a:rPr lang="en-US" dirty="0" smtClean="0"/>
              <a:t>we have to use </a:t>
            </a:r>
            <a:r>
              <a:rPr lang="en-US" dirty="0" err="1" smtClean="0"/>
              <a:t>dtype</a:t>
            </a:r>
            <a:r>
              <a:rPr lang="en-US" dirty="0" smtClean="0"/>
              <a:t> argument while creating the </a:t>
            </a:r>
            <a:r>
              <a:rPr lang="en-US" dirty="0" err="1" smtClean="0"/>
              <a:t>arrray</a:t>
            </a:r>
            <a:r>
              <a:rPr lang="en-US" dirty="0" smtClean="0"/>
              <a:t> # </a:t>
            </a:r>
            <a:r>
              <a:rPr lang="en-US" dirty="0" err="1" smtClean="0"/>
              <a:t>int</a:t>
            </a:r>
            <a:r>
              <a:rPr lang="en-US" dirty="0" smtClean="0"/>
              <a:t> type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a 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([10,20,30.5],</a:t>
            </a:r>
            <a:r>
              <a:rPr lang="en-US" dirty="0" err="1" smtClean="0">
                <a:solidFill>
                  <a:srgbClr val="FF0000"/>
                </a:solidFill>
              </a:rPr>
              <a:t>dtype</a:t>
            </a:r>
            <a:r>
              <a:rPr lang="en-US" dirty="0" smtClean="0">
                <a:solidFill>
                  <a:srgbClr val="FF0000"/>
                </a:solidFill>
              </a:rPr>
              <a:t>=</a:t>
            </a:r>
            <a:r>
              <a:rPr lang="en-US" dirty="0" err="1" smtClean="0">
                <a:solidFill>
                  <a:srgbClr val="FF0000"/>
                </a:solidFill>
              </a:rPr>
              <a:t>int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 print(a) 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creating object type array </a:t>
            </a:r>
          </a:p>
          <a:p>
            <a:r>
              <a:rPr lang="en-US" dirty="0" smtClean="0"/>
              <a:t>object is the parent of all </a:t>
            </a:r>
            <a:r>
              <a:rPr lang="en-US" dirty="0" err="1" smtClean="0"/>
              <a:t>int</a:t>
            </a:r>
            <a:r>
              <a:rPr lang="en-US" dirty="0" smtClean="0"/>
              <a:t>, float, </a:t>
            </a:r>
            <a:r>
              <a:rPr lang="en-US" dirty="0" err="1" smtClean="0"/>
              <a:t>bool</a:t>
            </a:r>
            <a:r>
              <a:rPr lang="en-US" dirty="0" smtClean="0"/>
              <a:t>, complex and </a:t>
            </a:r>
            <a:r>
              <a:rPr lang="en-US" dirty="0" err="1" smtClean="0"/>
              <a:t>str</a:t>
            </a:r>
            <a:r>
              <a:rPr lang="en-US" dirty="0" smtClean="0"/>
              <a:t> </a:t>
            </a:r>
          </a:p>
          <a:p>
            <a:r>
              <a:rPr lang="en-US" dirty="0" smtClean="0"/>
              <a:t> Here the elements are looks like heterogeneous. </a:t>
            </a:r>
          </a:p>
          <a:p>
            <a:r>
              <a:rPr lang="en-US" dirty="0" smtClean="0"/>
              <a:t>But the data type of elements is 'object‘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  a =</a:t>
            </a:r>
            <a:r>
              <a:rPr lang="en-US" sz="2400" dirty="0" err="1" smtClean="0">
                <a:solidFill>
                  <a:srgbClr val="FF0000"/>
                </a:solidFill>
              </a:rPr>
              <a:t>np.array</a:t>
            </a:r>
            <a:r>
              <a:rPr lang="en-US" sz="2400" dirty="0" smtClean="0">
                <a:solidFill>
                  <a:srgbClr val="FF0000"/>
                </a:solidFill>
              </a:rPr>
              <a:t>([10,'krishna',10.5,True,10+20j],</a:t>
            </a:r>
            <a:r>
              <a:rPr lang="en-US" sz="2400" dirty="0" err="1" smtClean="0">
                <a:solidFill>
                  <a:srgbClr val="FF0000"/>
                </a:solidFill>
              </a:rPr>
              <a:t>dtype</a:t>
            </a:r>
            <a:r>
              <a:rPr lang="en-US" sz="2400" dirty="0" smtClean="0">
                <a:solidFill>
                  <a:srgbClr val="FF0000"/>
                </a:solidFill>
              </a:rPr>
              <a:t>=object)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  print(a) # data type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  print(</a:t>
            </a:r>
            <a:r>
              <a:rPr lang="en-US" sz="2400" dirty="0" err="1" smtClean="0">
                <a:solidFill>
                  <a:srgbClr val="FF0000"/>
                </a:solidFill>
              </a:rPr>
              <a:t>f"Data</a:t>
            </a:r>
            <a:r>
              <a:rPr lang="en-US" sz="2400" dirty="0" smtClean="0">
                <a:solidFill>
                  <a:srgbClr val="FF0000"/>
                </a:solidFill>
              </a:rPr>
              <a:t> type of elements of array a ==&gt; {</a:t>
            </a:r>
            <a:r>
              <a:rPr lang="en-US" sz="2400" dirty="0" err="1" smtClean="0">
                <a:solidFill>
                  <a:srgbClr val="FF0000"/>
                </a:solidFill>
              </a:rPr>
              <a:t>a.dtype</a:t>
            </a:r>
            <a:r>
              <a:rPr lang="en-US" sz="2400" dirty="0" smtClean="0">
                <a:solidFill>
                  <a:srgbClr val="FF0000"/>
                </a:solidFill>
              </a:rPr>
              <a:t>}")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Joining </a:t>
            </a:r>
            <a:r>
              <a:rPr lang="en-US" dirty="0" err="1" smtClean="0"/>
              <a:t>Numpy</a:t>
            </a:r>
            <a:r>
              <a:rPr lang="en-US" dirty="0" smtClean="0"/>
              <a:t> 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Arr1 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([1,2,3])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Arr2=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([4,5,6])</a:t>
            </a:r>
          </a:p>
          <a:p>
            <a:pPr lvl="2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Arr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np.concatenate</a:t>
            </a:r>
            <a:r>
              <a:rPr lang="en-US" dirty="0" smtClean="0">
                <a:solidFill>
                  <a:srgbClr val="FF0000"/>
                </a:solidFill>
              </a:rPr>
              <a:t>(arr1,arr2)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Arr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lvl="2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dirty="0" smtClean="0"/>
              <a:t>Join a 2D Array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Arr1=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([1,2],[3,4])</a:t>
            </a: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Arr1=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([5,6],[7.8]])</a:t>
            </a:r>
          </a:p>
          <a:p>
            <a:pPr lvl="2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Arr</a:t>
            </a:r>
            <a:r>
              <a:rPr lang="en-US" dirty="0" smtClean="0">
                <a:solidFill>
                  <a:srgbClr val="FF0000"/>
                </a:solidFill>
              </a:rPr>
              <a:t>= </a:t>
            </a:r>
            <a:r>
              <a:rPr lang="en-US" dirty="0" err="1" smtClean="0">
                <a:solidFill>
                  <a:srgbClr val="FF0000"/>
                </a:solidFill>
              </a:rPr>
              <a:t>np.concatenate</a:t>
            </a:r>
            <a:r>
              <a:rPr lang="en-US" dirty="0" smtClean="0">
                <a:solidFill>
                  <a:srgbClr val="FF0000"/>
                </a:solidFill>
              </a:rPr>
              <a:t>((Arr1,Arr2),axis=0)</a:t>
            </a:r>
          </a:p>
          <a:p>
            <a:pPr lvl="2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Axis =0 Rows direction (top to bottom) </a:t>
            </a:r>
            <a:r>
              <a:rPr lang="en-US" dirty="0" smtClean="0"/>
              <a:t>For axis=0, the number of columns must match. For axis=1, the number of rows must match.</a:t>
            </a:r>
            <a:endParaRPr lang="en-US" dirty="0" smtClean="0">
              <a:solidFill>
                <a:srgbClr val="FF0000"/>
              </a:solidFill>
            </a:endParaRPr>
          </a:p>
          <a:p>
            <a:pPr lvl="2">
              <a:buNone/>
            </a:pPr>
            <a:r>
              <a:rPr lang="en-US" dirty="0" smtClean="0">
                <a:solidFill>
                  <a:srgbClr val="FF0000"/>
                </a:solidFill>
              </a:rPr>
              <a:t>Axis=1 Column direction (left to right)</a:t>
            </a:r>
          </a:p>
          <a:p>
            <a:pPr lvl="2">
              <a:buNone/>
            </a:pPr>
            <a:r>
              <a:rPr lang="en-US" dirty="0" smtClean="0"/>
              <a:t>	</a:t>
            </a:r>
          </a:p>
          <a:p>
            <a:pPr lvl="2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 </a:t>
            </a:r>
            <a:r>
              <a:rPr lang="en-US" dirty="0" err="1" smtClean="0"/>
              <a:t>Numpy</a:t>
            </a:r>
            <a:r>
              <a:rPr lang="en-US" dirty="0" smtClean="0"/>
              <a:t>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Splitting array in 3 parts</a:t>
            </a:r>
          </a:p>
          <a:p>
            <a:pPr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Arr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([1,2,3,4,5,6])</a:t>
            </a:r>
          </a:p>
          <a:p>
            <a:pPr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Newarr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np.array_split</a:t>
            </a:r>
            <a:r>
              <a:rPr lang="en-US" dirty="0" smtClean="0">
                <a:solidFill>
                  <a:srgbClr val="FF0000"/>
                </a:solidFill>
              </a:rPr>
              <a:t>(arr,3)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Print(</a:t>
            </a:r>
            <a:r>
              <a:rPr lang="en-US" dirty="0" err="1" smtClean="0">
                <a:solidFill>
                  <a:srgbClr val="FF0000"/>
                </a:solidFill>
              </a:rPr>
              <a:t>Newarr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Ravel and flatten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Converts multidimensional array into 1 D array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M=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([[[1,2,3],[4,5,6],[7,8,9]]]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Print(“dimension is : “,</a:t>
            </a:r>
            <a:r>
              <a:rPr lang="en-US" dirty="0" err="1" smtClean="0">
                <a:solidFill>
                  <a:srgbClr val="FF0000"/>
                </a:solidFill>
              </a:rPr>
              <a:t>M.ndim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N= </a:t>
            </a:r>
            <a:r>
              <a:rPr lang="en-US" dirty="0" err="1" smtClean="0">
                <a:solidFill>
                  <a:srgbClr val="FF0000"/>
                </a:solidFill>
              </a:rPr>
              <a:t>M.ravel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Print(“Now dimension is : “,</a:t>
            </a:r>
            <a:r>
              <a:rPr lang="en-US" dirty="0" err="1" smtClean="0">
                <a:solidFill>
                  <a:srgbClr val="FF0000"/>
                </a:solidFill>
              </a:rPr>
              <a:t>M.ndim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>
              <a:buNone/>
            </a:pPr>
            <a:endParaRPr lang="en-US" dirty="0" smtClean="0"/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M=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([[[1,2,3],[4,5,6],[7,8,9]]]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Print(“dimension is : “,</a:t>
            </a:r>
            <a:r>
              <a:rPr lang="en-US" dirty="0" err="1" smtClean="0">
                <a:solidFill>
                  <a:srgbClr val="FF0000"/>
                </a:solidFill>
              </a:rPr>
              <a:t>M.ndim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N= </a:t>
            </a:r>
            <a:r>
              <a:rPr lang="en-US" dirty="0" err="1" smtClean="0">
                <a:solidFill>
                  <a:srgbClr val="FF0000"/>
                </a:solidFill>
              </a:rPr>
              <a:t>M.flatten</a:t>
            </a:r>
            <a:r>
              <a:rPr lang="en-US" dirty="0" smtClean="0">
                <a:solidFill>
                  <a:srgbClr val="FF0000"/>
                </a:solidFill>
              </a:rPr>
              <a:t>()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Print(“Now dimension is : “,</a:t>
            </a:r>
            <a:r>
              <a:rPr lang="en-US" dirty="0" err="1" smtClean="0">
                <a:solidFill>
                  <a:srgbClr val="FF0000"/>
                </a:solidFill>
              </a:rPr>
              <a:t>M.ndim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Unique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K 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([1,2,3,22,33,1,2,3,12,34,45,23])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Print(K)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X= </a:t>
            </a:r>
            <a:r>
              <a:rPr lang="en-US" dirty="0" err="1" smtClean="0">
                <a:solidFill>
                  <a:srgbClr val="FF0000"/>
                </a:solidFill>
              </a:rPr>
              <a:t>np.unique</a:t>
            </a:r>
            <a:r>
              <a:rPr lang="en-US" dirty="0" smtClean="0">
                <a:solidFill>
                  <a:srgbClr val="FF0000"/>
                </a:solidFill>
              </a:rPr>
              <a:t>(K)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Print</a:t>
            </a:r>
          </a:p>
          <a:p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K 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([1,2,3,22,33,1,2,3,12,34,45,23])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Print(K)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X= </a:t>
            </a:r>
            <a:r>
              <a:rPr lang="en-US" dirty="0" err="1" smtClean="0">
                <a:solidFill>
                  <a:srgbClr val="FF0000"/>
                </a:solidFill>
              </a:rPr>
              <a:t>np.unique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 err="1" smtClean="0">
                <a:solidFill>
                  <a:srgbClr val="FF0000"/>
                </a:solidFill>
              </a:rPr>
              <a:t>K,return_index</a:t>
            </a:r>
            <a:r>
              <a:rPr lang="en-US" dirty="0" smtClean="0">
                <a:solidFill>
                  <a:srgbClr val="FF0000"/>
                </a:solidFill>
              </a:rPr>
              <a:t> =</a:t>
            </a:r>
            <a:r>
              <a:rPr lang="en-US" smtClean="0">
                <a:solidFill>
                  <a:srgbClr val="FF0000"/>
                </a:solidFill>
              </a:rPr>
              <a:t>True,return_counts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= True)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Print(x)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(x)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Delete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A=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([1,2,3,45])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D= </a:t>
            </a:r>
            <a:r>
              <a:rPr lang="en-US" dirty="0" err="1" smtClean="0">
                <a:solidFill>
                  <a:srgbClr val="FF0000"/>
                </a:solidFill>
              </a:rPr>
              <a:t>np.delete</a:t>
            </a:r>
            <a:r>
              <a:rPr lang="en-US" dirty="0" smtClean="0">
                <a:solidFill>
                  <a:srgbClr val="FF0000"/>
                </a:solidFill>
              </a:rPr>
              <a:t>(a.[1])  # index in []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Print(D)</a:t>
            </a:r>
          </a:p>
          <a:p>
            <a:pPr lvl="1">
              <a:buNone/>
            </a:pPr>
            <a:endParaRPr lang="en-US" dirty="0" smtClean="0">
              <a:solidFill>
                <a:srgbClr val="FF0000"/>
              </a:solidFill>
            </a:endParaRP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X= </a:t>
            </a:r>
            <a:r>
              <a:rPr lang="en-US" dirty="0" err="1" smtClean="0">
                <a:solidFill>
                  <a:srgbClr val="FF0000"/>
                </a:solidFill>
              </a:rPr>
              <a:t>np.array</a:t>
            </a:r>
            <a:r>
              <a:rPr lang="en-US" dirty="0" smtClean="0">
                <a:solidFill>
                  <a:srgbClr val="FF0000"/>
                </a:solidFill>
              </a:rPr>
              <a:t>([[2,4,5,6],[7,8,9,10],[1,2,3,4]])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Print(X)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M=</a:t>
            </a:r>
            <a:r>
              <a:rPr lang="en-US" dirty="0" err="1" smtClean="0">
                <a:solidFill>
                  <a:srgbClr val="FF0000"/>
                </a:solidFill>
              </a:rPr>
              <a:t>np.delete</a:t>
            </a:r>
            <a:r>
              <a:rPr lang="en-US" dirty="0" smtClean="0">
                <a:solidFill>
                  <a:srgbClr val="FF0000"/>
                </a:solidFill>
              </a:rPr>
              <a:t>(X,1,axis=0)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Print()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</a:rPr>
              <a:t>Print(M)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2018</TotalTime>
  <Words>1291</Words>
  <Application>Microsoft Office PowerPoint</Application>
  <PresentationFormat>On-screen Show (4:3)</PresentationFormat>
  <Paragraphs>187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Flow</vt:lpstr>
      <vt:lpstr>  Numpy   </vt:lpstr>
      <vt:lpstr>Numpy : Numerical Python Library</vt:lpstr>
      <vt:lpstr>Importance of Numpy </vt:lpstr>
      <vt:lpstr>ndarray in Numpy </vt:lpstr>
      <vt:lpstr>Application Areas of Numpy</vt:lpstr>
      <vt:lpstr>What is an Array</vt:lpstr>
      <vt:lpstr>Slide 7</vt:lpstr>
      <vt:lpstr>Python List Vs Numpy Array </vt:lpstr>
      <vt:lpstr>Python List Vs Numpy Array </vt:lpstr>
      <vt:lpstr>Creation of Numpy Arrays</vt:lpstr>
      <vt:lpstr>Slide 11</vt:lpstr>
      <vt:lpstr>Slide 12</vt:lpstr>
      <vt:lpstr>Slide 13</vt:lpstr>
      <vt:lpstr>Slide 14</vt:lpstr>
      <vt:lpstr>Slide 15</vt:lpstr>
      <vt:lpstr>Slide 16</vt:lpstr>
      <vt:lpstr>Joining Numpy Array</vt:lpstr>
      <vt:lpstr>Splitting  Numpy Arrays</vt:lpstr>
      <vt:lpstr>Ravel and flatten</vt:lpstr>
      <vt:lpstr>Unique Function</vt:lpstr>
      <vt:lpstr>Delete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priti</dc:creator>
  <cp:lastModifiedBy>Admin</cp:lastModifiedBy>
  <cp:revision>179</cp:revision>
  <dcterms:created xsi:type="dcterms:W3CDTF">2021-01-27T09:01:43Z</dcterms:created>
  <dcterms:modified xsi:type="dcterms:W3CDTF">2026-08-24T05:46:23Z</dcterms:modified>
</cp:coreProperties>
</file>